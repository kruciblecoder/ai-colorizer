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7"/>
  </p:notesMasterIdLst>
  <p:sldIdLst>
    <p:sldId id="256" r:id="rId2"/>
    <p:sldId id="293" r:id="rId3"/>
    <p:sldId id="294" r:id="rId4"/>
    <p:sldId id="295" r:id="rId5"/>
    <p:sldId id="296" r:id="rId6"/>
    <p:sldId id="297" r:id="rId7"/>
    <p:sldId id="299" r:id="rId8"/>
    <p:sldId id="298" r:id="rId9"/>
    <p:sldId id="258" r:id="rId10"/>
    <p:sldId id="259" r:id="rId11"/>
    <p:sldId id="260" r:id="rId12"/>
    <p:sldId id="261" r:id="rId13"/>
    <p:sldId id="277" r:id="rId14"/>
    <p:sldId id="292" r:id="rId15"/>
    <p:sldId id="281" r:id="rId16"/>
    <p:sldId id="287" r:id="rId17"/>
    <p:sldId id="288" r:id="rId18"/>
    <p:sldId id="289" r:id="rId19"/>
    <p:sldId id="290" r:id="rId20"/>
    <p:sldId id="291" r:id="rId21"/>
    <p:sldId id="282" r:id="rId22"/>
    <p:sldId id="300" r:id="rId23"/>
    <p:sldId id="285" r:id="rId24"/>
    <p:sldId id="301" r:id="rId25"/>
    <p:sldId id="274" r:id="rId26"/>
  </p:sldIdLst>
  <p:sldSz cx="9144000" cy="5143500" type="screen16x9"/>
  <p:notesSz cx="6858000" cy="9144000"/>
  <p:embeddedFontLst>
    <p:embeddedFont>
      <p:font typeface="Georgia" panose="02040502050405020303" pitchFamily="18" charset="0"/>
      <p:regular r:id="rId28"/>
      <p:bold r:id="rId29"/>
      <p:italic r:id="rId30"/>
      <p:boldItalic r:id="rId31"/>
    </p:embeddedFont>
    <p:embeddedFont>
      <p:font typeface="Playfair Display SemiBold" panose="020B0604020202020204" charset="0"/>
      <p:regular r:id="rId32"/>
      <p:bold r:id="rId33"/>
      <p:italic r:id="rId34"/>
      <p:boldItalic r:id="rId35"/>
    </p:embeddedFont>
    <p:embeddedFont>
      <p:font typeface="Roboto" panose="02000000000000000000" pitchFamily="2" charset="0"/>
      <p:regular r:id="rId36"/>
      <p:bold r:id="rId37"/>
      <p:italic r:id="rId38"/>
      <p:boldItalic r:id="rId39"/>
    </p:embeddedFont>
    <p:embeddedFont>
      <p:font typeface="Rockwell" panose="02060603020205020403" pitchFamily="18" charset="0"/>
      <p:regular r:id="rId40"/>
      <p:bold r:id="rId41"/>
      <p:italic r:id="rId42"/>
      <p:boldItalic r:id="rId43"/>
    </p:embeddedFont>
    <p:embeddedFont>
      <p:font typeface="Rockwell Condensed" panose="02060603050405020104" pitchFamily="18" charset="0"/>
      <p:regular r:id="rId44"/>
      <p:bold r:id="rId4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2E9F631-63F9-4BDA-BCCA-17D68EF9F465}">
  <a:tblStyle styleId="{52E9F631-63F9-4BDA-BCCA-17D68EF9F46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9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4T17:29:38.6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8531042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173BBDA2-264E-6997-45A0-807D9F798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fc808a199b_1_220:notes">
            <a:extLst>
              <a:ext uri="{FF2B5EF4-FFF2-40B4-BE49-F238E27FC236}">
                <a16:creationId xmlns:a16="http://schemas.microsoft.com/office/drawing/2014/main" id="{28876A8A-B4F9-FB4E-A0FB-27F1F53926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fc808a199b_1_220:notes">
            <a:extLst>
              <a:ext uri="{FF2B5EF4-FFF2-40B4-BE49-F238E27FC236}">
                <a16:creationId xmlns:a16="http://schemas.microsoft.com/office/drawing/2014/main" id="{5EAACEDF-C590-4450-9089-9AC06FB29C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08834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173BBDA2-264E-6997-45A0-807D9F798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fc808a199b_1_220:notes">
            <a:extLst>
              <a:ext uri="{FF2B5EF4-FFF2-40B4-BE49-F238E27FC236}">
                <a16:creationId xmlns:a16="http://schemas.microsoft.com/office/drawing/2014/main" id="{28876A8A-B4F9-FB4E-A0FB-27F1F53926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fc808a199b_1_220:notes">
            <a:extLst>
              <a:ext uri="{FF2B5EF4-FFF2-40B4-BE49-F238E27FC236}">
                <a16:creationId xmlns:a16="http://schemas.microsoft.com/office/drawing/2014/main" id="{5EAACEDF-C590-4450-9089-9AC06FB29C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08834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173BBDA2-264E-6997-45A0-807D9F798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fc808a199b_1_220:notes">
            <a:extLst>
              <a:ext uri="{FF2B5EF4-FFF2-40B4-BE49-F238E27FC236}">
                <a16:creationId xmlns:a16="http://schemas.microsoft.com/office/drawing/2014/main" id="{28876A8A-B4F9-FB4E-A0FB-27F1F53926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fc808a199b_1_220:notes">
            <a:extLst>
              <a:ext uri="{FF2B5EF4-FFF2-40B4-BE49-F238E27FC236}">
                <a16:creationId xmlns:a16="http://schemas.microsoft.com/office/drawing/2014/main" id="{5EAACEDF-C590-4450-9089-9AC06FB29C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08834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173BBDA2-264E-6997-45A0-807D9F798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fc808a199b_1_220:notes">
            <a:extLst>
              <a:ext uri="{FF2B5EF4-FFF2-40B4-BE49-F238E27FC236}">
                <a16:creationId xmlns:a16="http://schemas.microsoft.com/office/drawing/2014/main" id="{28876A8A-B4F9-FB4E-A0FB-27F1F53926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fc808a199b_1_220:notes">
            <a:extLst>
              <a:ext uri="{FF2B5EF4-FFF2-40B4-BE49-F238E27FC236}">
                <a16:creationId xmlns:a16="http://schemas.microsoft.com/office/drawing/2014/main" id="{5EAACEDF-C590-4450-9089-9AC06FB29C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08834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173BBDA2-264E-6997-45A0-807D9F798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fc808a199b_1_220:notes">
            <a:extLst>
              <a:ext uri="{FF2B5EF4-FFF2-40B4-BE49-F238E27FC236}">
                <a16:creationId xmlns:a16="http://schemas.microsoft.com/office/drawing/2014/main" id="{28876A8A-B4F9-FB4E-A0FB-27F1F53926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fc808a199b_1_220:notes">
            <a:extLst>
              <a:ext uri="{FF2B5EF4-FFF2-40B4-BE49-F238E27FC236}">
                <a16:creationId xmlns:a16="http://schemas.microsoft.com/office/drawing/2014/main" id="{5EAACEDF-C590-4450-9089-9AC06FB29C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408834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173BBDA2-264E-6997-45A0-807D9F798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fc808a199b_1_220:notes">
            <a:extLst>
              <a:ext uri="{FF2B5EF4-FFF2-40B4-BE49-F238E27FC236}">
                <a16:creationId xmlns:a16="http://schemas.microsoft.com/office/drawing/2014/main" id="{28876A8A-B4F9-FB4E-A0FB-27F1F53926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fc808a199b_1_220:notes">
            <a:extLst>
              <a:ext uri="{FF2B5EF4-FFF2-40B4-BE49-F238E27FC236}">
                <a16:creationId xmlns:a16="http://schemas.microsoft.com/office/drawing/2014/main" id="{5EAACEDF-C590-4450-9089-9AC06FB29C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08834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173BBDA2-264E-6997-45A0-807D9F798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fc808a199b_1_220:notes">
            <a:extLst>
              <a:ext uri="{FF2B5EF4-FFF2-40B4-BE49-F238E27FC236}">
                <a16:creationId xmlns:a16="http://schemas.microsoft.com/office/drawing/2014/main" id="{28876A8A-B4F9-FB4E-A0FB-27F1F53926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fc808a199b_1_220:notes">
            <a:extLst>
              <a:ext uri="{FF2B5EF4-FFF2-40B4-BE49-F238E27FC236}">
                <a16:creationId xmlns:a16="http://schemas.microsoft.com/office/drawing/2014/main" id="{5EAACEDF-C590-4450-9089-9AC06FB29C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08834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fc808a199b_1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fc808a199b_1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fc808a199b_1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fc808a199b_1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fc808a199b_1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fc808a199b_1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fc808a199b_1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fc808a199b_1_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FA8E5648-8919-4913-00EE-C700B2FB0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3f316b2ad3_2_7:notes">
            <a:extLst>
              <a:ext uri="{FF2B5EF4-FFF2-40B4-BE49-F238E27FC236}">
                <a16:creationId xmlns:a16="http://schemas.microsoft.com/office/drawing/2014/main" id="{06CCE7D0-5091-A06F-4272-50C9DE7E21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3f316b2ad3_2_7:notes">
            <a:extLst>
              <a:ext uri="{FF2B5EF4-FFF2-40B4-BE49-F238E27FC236}">
                <a16:creationId xmlns:a16="http://schemas.microsoft.com/office/drawing/2014/main" id="{B0CC477D-D8A8-45C3-34A7-A4AC223FFC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88391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FA8E5648-8919-4913-00EE-C700B2FB0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3f316b2ad3_2_7:notes">
            <a:extLst>
              <a:ext uri="{FF2B5EF4-FFF2-40B4-BE49-F238E27FC236}">
                <a16:creationId xmlns:a16="http://schemas.microsoft.com/office/drawing/2014/main" id="{06CCE7D0-5091-A06F-4272-50C9DE7E21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3f316b2ad3_2_7:notes">
            <a:extLst>
              <a:ext uri="{FF2B5EF4-FFF2-40B4-BE49-F238E27FC236}">
                <a16:creationId xmlns:a16="http://schemas.microsoft.com/office/drawing/2014/main" id="{B0CC477D-D8A8-45C3-34A7-A4AC223FFC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88391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69CF2E65-B479-4421-5990-532AB7ECE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3f316b2ad3_2_7:notes">
            <a:extLst>
              <a:ext uri="{FF2B5EF4-FFF2-40B4-BE49-F238E27FC236}">
                <a16:creationId xmlns:a16="http://schemas.microsoft.com/office/drawing/2014/main" id="{79BEFD11-E487-E80A-9995-11FB735EBF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3f316b2ad3_2_7:notes">
            <a:extLst>
              <a:ext uri="{FF2B5EF4-FFF2-40B4-BE49-F238E27FC236}">
                <a16:creationId xmlns:a16="http://schemas.microsoft.com/office/drawing/2014/main" id="{500999F5-EC43-8489-2FC3-997DAB0DD5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76812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69CF2E65-B479-4421-5990-532AB7ECE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3f316b2ad3_2_7:notes">
            <a:extLst>
              <a:ext uri="{FF2B5EF4-FFF2-40B4-BE49-F238E27FC236}">
                <a16:creationId xmlns:a16="http://schemas.microsoft.com/office/drawing/2014/main" id="{79BEFD11-E487-E80A-9995-11FB735EBF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3f316b2ad3_2_7:notes">
            <a:extLst>
              <a:ext uri="{FF2B5EF4-FFF2-40B4-BE49-F238E27FC236}">
                <a16:creationId xmlns:a16="http://schemas.microsoft.com/office/drawing/2014/main" id="{500999F5-EC43-8489-2FC3-997DAB0DD5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76812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69CF2E65-B479-4421-5990-532AB7ECE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3f316b2ad3_2_7:notes">
            <a:extLst>
              <a:ext uri="{FF2B5EF4-FFF2-40B4-BE49-F238E27FC236}">
                <a16:creationId xmlns:a16="http://schemas.microsoft.com/office/drawing/2014/main" id="{79BEFD11-E487-E80A-9995-11FB735EBF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3f316b2ad3_2_7:notes">
            <a:extLst>
              <a:ext uri="{FF2B5EF4-FFF2-40B4-BE49-F238E27FC236}">
                <a16:creationId xmlns:a16="http://schemas.microsoft.com/office/drawing/2014/main" id="{500999F5-EC43-8489-2FC3-997DAB0DD5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76812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69CF2E65-B479-4421-5990-532AB7ECE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3f316b2ad3_2_7:notes">
            <a:extLst>
              <a:ext uri="{FF2B5EF4-FFF2-40B4-BE49-F238E27FC236}">
                <a16:creationId xmlns:a16="http://schemas.microsoft.com/office/drawing/2014/main" id="{79BEFD11-E487-E80A-9995-11FB735EBF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3f316b2ad3_2_7:notes">
            <a:extLst>
              <a:ext uri="{FF2B5EF4-FFF2-40B4-BE49-F238E27FC236}">
                <a16:creationId xmlns:a16="http://schemas.microsoft.com/office/drawing/2014/main" id="{500999F5-EC43-8489-2FC3-997DAB0DD5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76812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69CF2E65-B479-4421-5990-532AB7ECE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3f316b2ad3_2_7:notes">
            <a:extLst>
              <a:ext uri="{FF2B5EF4-FFF2-40B4-BE49-F238E27FC236}">
                <a16:creationId xmlns:a16="http://schemas.microsoft.com/office/drawing/2014/main" id="{79BEFD11-E487-E80A-9995-11FB735EBF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3f316b2ad3_2_7:notes">
            <a:extLst>
              <a:ext uri="{FF2B5EF4-FFF2-40B4-BE49-F238E27FC236}">
                <a16:creationId xmlns:a16="http://schemas.microsoft.com/office/drawing/2014/main" id="{500999F5-EC43-8489-2FC3-997DAB0DD5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76812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69CF2E65-B479-4421-5990-532AB7ECE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3f316b2ad3_2_7:notes">
            <a:extLst>
              <a:ext uri="{FF2B5EF4-FFF2-40B4-BE49-F238E27FC236}">
                <a16:creationId xmlns:a16="http://schemas.microsoft.com/office/drawing/2014/main" id="{79BEFD11-E487-E80A-9995-11FB735EBF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3f316b2ad3_2_7:notes">
            <a:extLst>
              <a:ext uri="{FF2B5EF4-FFF2-40B4-BE49-F238E27FC236}">
                <a16:creationId xmlns:a16="http://schemas.microsoft.com/office/drawing/2014/main" id="{500999F5-EC43-8489-2FC3-997DAB0DD5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76812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C17E3036-FD17-C052-4809-11AB3784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3f316b2ad3_2_7:notes">
            <a:extLst>
              <a:ext uri="{FF2B5EF4-FFF2-40B4-BE49-F238E27FC236}">
                <a16:creationId xmlns:a16="http://schemas.microsoft.com/office/drawing/2014/main" id="{F7CA20F9-C61F-6CB6-3553-03473D13CF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3f316b2ad3_2_7:notes">
            <a:extLst>
              <a:ext uri="{FF2B5EF4-FFF2-40B4-BE49-F238E27FC236}">
                <a16:creationId xmlns:a16="http://schemas.microsoft.com/office/drawing/2014/main" id="{29C23B04-FDD1-C997-4FF6-18D6EB4A1D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75057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810C75EE-8553-12ED-21D0-186BD3A39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3f316b2ad3_2_7:notes">
            <a:extLst>
              <a:ext uri="{FF2B5EF4-FFF2-40B4-BE49-F238E27FC236}">
                <a16:creationId xmlns:a16="http://schemas.microsoft.com/office/drawing/2014/main" id="{BEEFD510-5BA2-89A8-D63D-7FF61757C0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3f316b2ad3_2_7:notes">
            <a:extLst>
              <a:ext uri="{FF2B5EF4-FFF2-40B4-BE49-F238E27FC236}">
                <a16:creationId xmlns:a16="http://schemas.microsoft.com/office/drawing/2014/main" id="{584AEA0E-D13A-B867-EF0E-B21641363B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56285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9756c3a7ca4c178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9756c3a7ca4c178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90626" y="1010210"/>
            <a:ext cx="7667244" cy="60512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90626" y="3224773"/>
            <a:ext cx="7667244" cy="60512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90626" y="1113584"/>
            <a:ext cx="7667244" cy="20574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7236911" y="3051692"/>
            <a:ext cx="810678" cy="810677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074167"/>
            <a:ext cx="7475220" cy="2276856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3291840"/>
            <a:ext cx="5918454" cy="802386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1"/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94550" y="3217001"/>
            <a:ext cx="895401" cy="480060"/>
          </a:xfrm>
        </p:spPr>
        <p:txBody>
          <a:bodyPr/>
          <a:lstStyle>
            <a:lvl1pPr>
              <a:defRPr sz="2100"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0273196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32533481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688492"/>
            <a:ext cx="9144000" cy="1455008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918972"/>
            <a:ext cx="6960870" cy="264033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1" y="3765042"/>
            <a:ext cx="6789420" cy="800100"/>
          </a:xfrm>
        </p:spPr>
        <p:txBody>
          <a:bodyPr anchor="t"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4704588"/>
            <a:ext cx="1983232" cy="273844"/>
          </a:xfrm>
        </p:spPr>
        <p:txBody>
          <a:bodyPr/>
          <a:lstStyle/>
          <a:p>
            <a:fld id="{C6F822A4-8DA6-4447-9B1F-C5DB58435268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7031" y="4704588"/>
            <a:ext cx="4745736" cy="273844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673049" y="1744386"/>
            <a:ext cx="810678" cy="810677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2776" y="1879600"/>
            <a:ext cx="891224" cy="540249"/>
          </a:xfrm>
        </p:spPr>
        <p:txBody>
          <a:bodyPr/>
          <a:lstStyle>
            <a:lvl1pPr>
              <a:defRPr sz="2100"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8262956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2386" y="1645920"/>
            <a:ext cx="3566160" cy="298323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3168" y="1645920"/>
            <a:ext cx="3566160" cy="298323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6059862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0" y="1536192"/>
            <a:ext cx="3566160" cy="480060"/>
          </a:xfrm>
        </p:spPr>
        <p:txBody>
          <a:bodyPr anchor="ctr">
            <a:normAutofit/>
          </a:bodyPr>
          <a:lstStyle>
            <a:lvl1pPr marL="0" indent="0">
              <a:buNone/>
              <a:defRPr sz="1500" b="1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2386" y="2057400"/>
            <a:ext cx="3566160" cy="246888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3168" y="1536192"/>
            <a:ext cx="3566160" cy="480060"/>
          </a:xfrm>
        </p:spPr>
        <p:txBody>
          <a:bodyPr anchor="ctr">
            <a:normAutofit/>
          </a:bodyPr>
          <a:lstStyle>
            <a:lvl1pPr marL="0" indent="0">
              <a:buNone/>
              <a:defRPr sz="1500" b="1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3168" y="2057400"/>
            <a:ext cx="3566160" cy="246888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7241460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60707445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59293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51434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514350"/>
            <a:ext cx="2400300" cy="1303020"/>
          </a:xfrm>
        </p:spPr>
        <p:txBody>
          <a:bodyPr anchor="b">
            <a:normAutofit/>
          </a:bodyPr>
          <a:lstStyle>
            <a:lvl1pPr>
              <a:defRPr sz="24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514350"/>
            <a:ext cx="5033772" cy="3765042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1817370"/>
            <a:ext cx="2400300" cy="24688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05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6675976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51434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514350"/>
            <a:ext cx="2400300" cy="1303020"/>
          </a:xfrm>
        </p:spPr>
        <p:txBody>
          <a:bodyPr anchor="b">
            <a:normAutofit/>
          </a:bodyPr>
          <a:lstStyle>
            <a:lvl1pPr>
              <a:defRPr sz="24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51435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1817370"/>
            <a:ext cx="2400300" cy="24688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05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4/5/2026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30254617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2475620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00050"/>
            <a:ext cx="1914525" cy="4229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400050"/>
            <a:ext cx="5629275" cy="4229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95746576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2386" y="363474"/>
            <a:ext cx="7543800" cy="12070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2386" y="1591056"/>
            <a:ext cx="7543800" cy="3038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3318" y="4704588"/>
            <a:ext cx="245516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6102" y="4704588"/>
            <a:ext cx="474573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4704588"/>
            <a:ext cx="48006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rgbClr val="FFFFFF"/>
                </a:solidFill>
                <a:latin typeface="+mj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98491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5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0000"/>
        </a:lnSpc>
        <a:spcBef>
          <a:spcPts val="9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www.publicdomainpictures.net/es/view-image.php?image=30948&amp;picture=basic-circulo-azul" TargetMode="External"/><Relationship Id="rId5" Type="http://schemas.openxmlformats.org/officeDocument/2006/relationships/image" Target="../media/image8.jpg"/><Relationship Id="rId4" Type="http://schemas.openxmlformats.org/officeDocument/2006/relationships/hyperlink" Target="https://opensource.com/article/19/5/python-3-default-mac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ideas4pm.wordpress.com/2012/10/15/principles-models-inspirations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enago.com/academy/statistics-in-research-data-analysis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openclipart.org/detail/118207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codewith.mu/en/tutorials/" TargetMode="Externa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>
            <a:spLocks noGrp="1"/>
          </p:cNvSpPr>
          <p:nvPr>
            <p:ph type="ctrTitle"/>
          </p:nvPr>
        </p:nvSpPr>
        <p:spPr>
          <a:xfrm>
            <a:off x="1416770" y="-672924"/>
            <a:ext cx="5926035" cy="254793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MATOSHRI </a:t>
            </a:r>
            <a:r>
              <a:rPr lang="e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 OF ENGINEERING</a:t>
            </a:r>
            <a:endParaRPr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br>
              <a:rPr lang="en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</a:br>
            <a:endParaRPr sz="1800" b="1" dirty="0">
              <a:solidFill>
                <a:srgbClr val="000000"/>
              </a:solidFill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Department Of Computer Engineering</a:t>
            </a:r>
            <a:endParaRPr sz="1800" b="1" dirty="0">
              <a:solidFill>
                <a:srgbClr val="000000"/>
              </a:solidFill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0" name="Google Shape;7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"/>
            <a:ext cx="825608" cy="990027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3"/>
          <p:cNvSpPr/>
          <p:nvPr/>
        </p:nvSpPr>
        <p:spPr>
          <a:xfrm>
            <a:off x="187025" y="4778125"/>
            <a:ext cx="2196600" cy="282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F2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594717-EA46-4069-71E9-65AAAB81D817}"/>
              </a:ext>
            </a:extLst>
          </p:cNvPr>
          <p:cNvSpPr txBox="1"/>
          <p:nvPr/>
        </p:nvSpPr>
        <p:spPr>
          <a:xfrm>
            <a:off x="-2" y="4295727"/>
            <a:ext cx="21966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Krishna Kiran Aher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E8AE0D-24E0-9FD7-BC41-090445A98170}"/>
              </a:ext>
            </a:extLst>
          </p:cNvPr>
          <p:cNvSpPr txBox="1"/>
          <p:nvPr/>
        </p:nvSpPr>
        <p:spPr>
          <a:xfrm>
            <a:off x="2093788" y="3287418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48AC6A-FEDE-5DE0-A07A-3C59BF0A6DC6}"/>
              </a:ext>
            </a:extLst>
          </p:cNvPr>
          <p:cNvSpPr txBox="1"/>
          <p:nvPr/>
        </p:nvSpPr>
        <p:spPr>
          <a:xfrm>
            <a:off x="1254070" y="2094443"/>
            <a:ext cx="61889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Name:-</a:t>
            </a:r>
          </a:p>
          <a:p>
            <a:pPr algn="ctr">
              <a:buNone/>
            </a:pP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“AI-based Image Colorizer and Enhancer”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6AD2A7-BFBB-A9D1-0530-1B28BAACE3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598" y="1"/>
            <a:ext cx="969402" cy="11069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Shape 89">
          <a:extLst>
            <a:ext uri="{FF2B5EF4-FFF2-40B4-BE49-F238E27FC236}">
              <a16:creationId xmlns:a16="http://schemas.microsoft.com/office/drawing/2014/main" id="{BEDEE719-96CA-ED76-A23A-FF21EAE00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>
            <a:extLst>
              <a:ext uri="{FF2B5EF4-FFF2-40B4-BE49-F238E27FC236}">
                <a16:creationId xmlns:a16="http://schemas.microsoft.com/office/drawing/2014/main" id="{F28333D5-3CFD-5C2F-2F04-9E7113F3F2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0050" y="0"/>
            <a:ext cx="8343900" cy="120700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IN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WEEK 1 – Python Programming Fundamentals</a:t>
            </a:r>
          </a:p>
        </p:txBody>
      </p:sp>
      <p:sp>
        <p:nvSpPr>
          <p:cNvPr id="93" name="Google Shape;93;p15">
            <a:extLst>
              <a:ext uri="{FF2B5EF4-FFF2-40B4-BE49-F238E27FC236}">
                <a16:creationId xmlns:a16="http://schemas.microsoft.com/office/drawing/2014/main" id="{A47C43E3-4D94-0CC1-2760-E19B124CB9CC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8359593" y="4709050"/>
            <a:ext cx="480060" cy="2738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 dirty="0"/>
          </a:p>
        </p:txBody>
      </p:sp>
      <p:sp>
        <p:nvSpPr>
          <p:cNvPr id="2" name="Google Shape;126;p19">
            <a:extLst>
              <a:ext uri="{FF2B5EF4-FFF2-40B4-BE49-F238E27FC236}">
                <a16:creationId xmlns:a16="http://schemas.microsoft.com/office/drawing/2014/main" id="{6A112922-138B-2551-49ED-C9050F37136D}"/>
              </a:ext>
            </a:extLst>
          </p:cNvPr>
          <p:cNvSpPr txBox="1"/>
          <p:nvPr/>
        </p:nvSpPr>
        <p:spPr>
          <a:xfrm>
            <a:off x="0" y="4892423"/>
            <a:ext cx="3575700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GB" sz="1050" dirty="0"/>
              <a:t>AI/ML &amp; Data Science Project – Internship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5501" y="857869"/>
            <a:ext cx="586468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Topics Covered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• Data Types and Variables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Operators and Expressions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Conditional Statements (if-else)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Loops (for, while)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Functions and Lambda Functions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Exception Handling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Practical Work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• Implemented pattern-based programs using loops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Developed a mini calculator using conditional statements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Created reusable functions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Used lambda with map() and filter()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Handled runtime errors using try-except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93776E-2CCA-0B0B-CAEA-612B9E5B08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401813" y="979713"/>
            <a:ext cx="3562203" cy="20018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181E5F6-E506-D758-C5A2-8A7B7541F3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6398850" y="3103371"/>
            <a:ext cx="2313667" cy="1588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503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Shape 89">
          <a:extLst>
            <a:ext uri="{FF2B5EF4-FFF2-40B4-BE49-F238E27FC236}">
              <a16:creationId xmlns:a16="http://schemas.microsoft.com/office/drawing/2014/main" id="{BEDEE719-96CA-ED76-A23A-FF21EAE00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AAFD99B-7B80-629F-E042-2F60A0B1C8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803870" y="960677"/>
            <a:ext cx="4049890" cy="2415039"/>
          </a:xfrm>
          <a:prstGeom prst="rect">
            <a:avLst/>
          </a:prstGeom>
        </p:spPr>
      </p:pic>
      <p:sp>
        <p:nvSpPr>
          <p:cNvPr id="90" name="Google Shape;90;p15">
            <a:extLst>
              <a:ext uri="{FF2B5EF4-FFF2-40B4-BE49-F238E27FC236}">
                <a16:creationId xmlns:a16="http://schemas.microsoft.com/office/drawing/2014/main" id="{F28333D5-3CFD-5C2F-2F04-9E7113F3F2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0091" y="28679"/>
            <a:ext cx="7543800" cy="120700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WEEK 2 – Object Oriented Programming</a:t>
            </a:r>
            <a:endParaRPr lang="en-GB" sz="2400" b="1" dirty="0">
              <a:solidFill>
                <a:schemeClr val="bg2">
                  <a:lumMod val="50000"/>
                </a:schemeClr>
              </a:solidFill>
              <a:latin typeface="Times New Roman" pitchFamily="18" charset="0"/>
              <a:ea typeface="Playfair Display SemiBold"/>
              <a:cs typeface="Times New Roman" pitchFamily="18" charset="0"/>
              <a:sym typeface="Playfair Display SemiBold"/>
            </a:endParaRPr>
          </a:p>
        </p:txBody>
      </p:sp>
      <p:sp>
        <p:nvSpPr>
          <p:cNvPr id="93" name="Google Shape;93;p15">
            <a:extLst>
              <a:ext uri="{FF2B5EF4-FFF2-40B4-BE49-F238E27FC236}">
                <a16:creationId xmlns:a16="http://schemas.microsoft.com/office/drawing/2014/main" id="{A47C43E3-4D94-0CC1-2760-E19B124CB9CC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8373700" y="4704588"/>
            <a:ext cx="480060" cy="2738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 dirty="0"/>
          </a:p>
        </p:txBody>
      </p:sp>
      <p:sp>
        <p:nvSpPr>
          <p:cNvPr id="2" name="Google Shape;126;p19">
            <a:extLst>
              <a:ext uri="{FF2B5EF4-FFF2-40B4-BE49-F238E27FC236}">
                <a16:creationId xmlns:a16="http://schemas.microsoft.com/office/drawing/2014/main" id="{6A112922-138B-2551-49ED-C9050F37136D}"/>
              </a:ext>
            </a:extLst>
          </p:cNvPr>
          <p:cNvSpPr txBox="1"/>
          <p:nvPr/>
        </p:nvSpPr>
        <p:spPr>
          <a:xfrm>
            <a:off x="0" y="4892423"/>
            <a:ext cx="3575700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GB" sz="1050" dirty="0"/>
              <a:t>AI/ML &amp; Data Science Project – Internship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5428" y="909756"/>
            <a:ext cx="3491661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Topics Covered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• Class and Object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Constructor (</a:t>
            </a:r>
            <a:r>
              <a:rPr lang="en-IN" b="1" dirty="0" err="1">
                <a:latin typeface="Times New Roman" pitchFamily="18" charset="0"/>
                <a:cs typeface="Times New Roman" pitchFamily="18" charset="0"/>
              </a:rPr>
              <a:t>init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)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Inheritance (Single and Multilevel)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Polymorphism (Method Overriding)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Encapsulation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Abstraction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Practical Work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• Created custom classes (Student, Employee)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Implemented inheritance concepts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Demonstrated method overriding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Used private variables for encapsulation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Built small OOP-based mini application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579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Shape 89">
          <a:extLst>
            <a:ext uri="{FF2B5EF4-FFF2-40B4-BE49-F238E27FC236}">
              <a16:creationId xmlns:a16="http://schemas.microsoft.com/office/drawing/2014/main" id="{BEDEE719-96CA-ED76-A23A-FF21EAE00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>
            <a:extLst>
              <a:ext uri="{FF2B5EF4-FFF2-40B4-BE49-F238E27FC236}">
                <a16:creationId xmlns:a16="http://schemas.microsoft.com/office/drawing/2014/main" id="{F28333D5-3CFD-5C2F-2F04-9E7113F3F2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0"/>
            <a:ext cx="7543800" cy="120700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WEEK 3 – </a:t>
            </a:r>
            <a:r>
              <a:rPr lang="en-IN" sz="2400" b="1" dirty="0" err="1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NumPy</a:t>
            </a:r>
            <a:r>
              <a:rPr lang="en-IN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and Pandas</a:t>
            </a:r>
            <a:endParaRPr lang="en-GB" sz="2400" b="1" dirty="0">
              <a:solidFill>
                <a:schemeClr val="bg2">
                  <a:lumMod val="50000"/>
                </a:schemeClr>
              </a:solidFill>
              <a:latin typeface="Times New Roman" pitchFamily="18" charset="0"/>
              <a:ea typeface="Playfair Display SemiBold"/>
              <a:cs typeface="Times New Roman" pitchFamily="18" charset="0"/>
              <a:sym typeface="Playfair Display SemiBold"/>
            </a:endParaRPr>
          </a:p>
        </p:txBody>
      </p:sp>
      <p:sp>
        <p:nvSpPr>
          <p:cNvPr id="93" name="Google Shape;93;p15">
            <a:extLst>
              <a:ext uri="{FF2B5EF4-FFF2-40B4-BE49-F238E27FC236}">
                <a16:creationId xmlns:a16="http://schemas.microsoft.com/office/drawing/2014/main" id="{A47C43E3-4D94-0CC1-2760-E19B124CB9CC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8359593" y="4697713"/>
            <a:ext cx="480060" cy="2738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2" name="Google Shape;126;p19">
            <a:extLst>
              <a:ext uri="{FF2B5EF4-FFF2-40B4-BE49-F238E27FC236}">
                <a16:creationId xmlns:a16="http://schemas.microsoft.com/office/drawing/2014/main" id="{6A112922-138B-2551-49ED-C9050F37136D}"/>
              </a:ext>
            </a:extLst>
          </p:cNvPr>
          <p:cNvSpPr txBox="1"/>
          <p:nvPr/>
        </p:nvSpPr>
        <p:spPr>
          <a:xfrm>
            <a:off x="0" y="4892423"/>
            <a:ext cx="3575700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GB" sz="1050" dirty="0"/>
              <a:t>AI/ML &amp; Data Science Project – Internship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33852"/>
            <a:ext cx="2361544" cy="2893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Topics Covered</a:t>
            </a:r>
          </a:p>
          <a:p>
            <a:r>
              <a:rPr lang="en-IN" b="1" dirty="0" err="1">
                <a:latin typeface="Times New Roman" pitchFamily="18" charset="0"/>
                <a:cs typeface="Times New Roman" pitchFamily="18" charset="0"/>
              </a:rPr>
              <a:t>NumPy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• Array Creation and Indexing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Matrix Operations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Reshaping and Slicing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Pandas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• Series and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DataFrame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Data Cleaning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Handling Missing Values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GroupBy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and Aggregation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Merge and Join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87890" y="933852"/>
            <a:ext cx="365356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Practical Work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• Loaded dataset using Pandas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Cleaned null values using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dropna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() and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fillna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()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Applied filtering using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loc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iloc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Performed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groupby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() operations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Merged multiple datasets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Conducted feature engineering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1817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Shape 89">
          <a:extLst>
            <a:ext uri="{FF2B5EF4-FFF2-40B4-BE49-F238E27FC236}">
              <a16:creationId xmlns:a16="http://schemas.microsoft.com/office/drawing/2014/main" id="{BEDEE719-96CA-ED76-A23A-FF21EAE00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>
            <a:extLst>
              <a:ext uri="{FF2B5EF4-FFF2-40B4-BE49-F238E27FC236}">
                <a16:creationId xmlns:a16="http://schemas.microsoft.com/office/drawing/2014/main" id="{F28333D5-3CFD-5C2F-2F04-9E7113F3F2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9386" y="0"/>
            <a:ext cx="7924514" cy="120700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IN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WEEK 4 – Data Visualization and Regression</a:t>
            </a:r>
          </a:p>
        </p:txBody>
      </p:sp>
      <p:sp>
        <p:nvSpPr>
          <p:cNvPr id="93" name="Google Shape;93;p15">
            <a:extLst>
              <a:ext uri="{FF2B5EF4-FFF2-40B4-BE49-F238E27FC236}">
                <a16:creationId xmlns:a16="http://schemas.microsoft.com/office/drawing/2014/main" id="{A47C43E3-4D94-0CC1-2760-E19B124CB9CC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8343900" y="4704588"/>
            <a:ext cx="480060" cy="2738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 dirty="0"/>
          </a:p>
        </p:txBody>
      </p:sp>
      <p:sp>
        <p:nvSpPr>
          <p:cNvPr id="2" name="Google Shape;126;p19">
            <a:extLst>
              <a:ext uri="{FF2B5EF4-FFF2-40B4-BE49-F238E27FC236}">
                <a16:creationId xmlns:a16="http://schemas.microsoft.com/office/drawing/2014/main" id="{6A112922-138B-2551-49ED-C9050F37136D}"/>
              </a:ext>
            </a:extLst>
          </p:cNvPr>
          <p:cNvSpPr txBox="1"/>
          <p:nvPr/>
        </p:nvSpPr>
        <p:spPr>
          <a:xfrm>
            <a:off x="0" y="4892423"/>
            <a:ext cx="3575700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GB" sz="1050" dirty="0"/>
              <a:t>AI/ML &amp; Data Science Project – Internship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680" y="953315"/>
            <a:ext cx="311702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Topics Covered</a:t>
            </a:r>
          </a:p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Data Visualization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• Bar Chart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Histogram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Scatter Plot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Correlation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Heatmap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Regression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• Linear Regression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Cost Function (MSE)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Gradient Descent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Polynomial Regression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Overfitting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Underfitting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R² Score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42705" y="953315"/>
            <a:ext cx="3781805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Practical Work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• Visualized dataset using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Matplotlib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Seaborn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Identified correlation between features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Implemented Linear Regression model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Calculated MSE and R² score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Compared Linear and Polynomial regression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Evaluated model performance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FE7429-7834-4AB7-BD23-AC57F80A03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307090" y="2962014"/>
            <a:ext cx="3843913" cy="1742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201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Shape 89">
          <a:extLst>
            <a:ext uri="{FF2B5EF4-FFF2-40B4-BE49-F238E27FC236}">
              <a16:creationId xmlns:a16="http://schemas.microsoft.com/office/drawing/2014/main" id="{BEDEE719-96CA-ED76-A23A-FF21EAE00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>
            <a:extLst>
              <a:ext uri="{FF2B5EF4-FFF2-40B4-BE49-F238E27FC236}">
                <a16:creationId xmlns:a16="http://schemas.microsoft.com/office/drawing/2014/main" id="{F28333D5-3CFD-5C2F-2F04-9E7113F3F2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96" y="-5877"/>
            <a:ext cx="7543800" cy="120700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WEEK 5 – CNN, NLP and Sentiment Analysis</a:t>
            </a:r>
            <a:endParaRPr lang="en-GB" sz="2400" b="1" dirty="0">
              <a:solidFill>
                <a:schemeClr val="bg2">
                  <a:lumMod val="50000"/>
                </a:schemeClr>
              </a:solidFill>
              <a:latin typeface="Times New Roman" pitchFamily="18" charset="0"/>
              <a:ea typeface="Playfair Display SemiBold"/>
              <a:cs typeface="Times New Roman" pitchFamily="18" charset="0"/>
              <a:sym typeface="Playfair Display SemiBold"/>
            </a:endParaRPr>
          </a:p>
        </p:txBody>
      </p:sp>
      <p:sp>
        <p:nvSpPr>
          <p:cNvPr id="93" name="Google Shape;93;p15">
            <a:extLst>
              <a:ext uri="{FF2B5EF4-FFF2-40B4-BE49-F238E27FC236}">
                <a16:creationId xmlns:a16="http://schemas.microsoft.com/office/drawing/2014/main" id="{A47C43E3-4D94-0CC1-2760-E19B124CB9CC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8359592" y="4704588"/>
            <a:ext cx="480060" cy="2738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2" name="Google Shape;126;p19">
            <a:extLst>
              <a:ext uri="{FF2B5EF4-FFF2-40B4-BE49-F238E27FC236}">
                <a16:creationId xmlns:a16="http://schemas.microsoft.com/office/drawing/2014/main" id="{6A112922-138B-2551-49ED-C9050F37136D}"/>
              </a:ext>
            </a:extLst>
          </p:cNvPr>
          <p:cNvSpPr txBox="1"/>
          <p:nvPr/>
        </p:nvSpPr>
        <p:spPr>
          <a:xfrm>
            <a:off x="0" y="4892423"/>
            <a:ext cx="3575700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GB" sz="1050" dirty="0"/>
              <a:t>AI/ML &amp; Data Science Project – Internship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52642" y="859237"/>
            <a:ext cx="3821880" cy="34932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700" b="1" dirty="0">
                <a:latin typeface="Times New Roman" pitchFamily="18" charset="0"/>
                <a:cs typeface="Times New Roman" pitchFamily="18" charset="0"/>
              </a:rPr>
              <a:t>Topics Covered</a:t>
            </a:r>
          </a:p>
          <a:p>
            <a:r>
              <a:rPr lang="en-IN" sz="1700" b="1" dirty="0">
                <a:latin typeface="Times New Roman" pitchFamily="18" charset="0"/>
                <a:cs typeface="Times New Roman" pitchFamily="18" charset="0"/>
              </a:rPr>
              <a:t>Convolutional Neural Networks (CNN)</a:t>
            </a:r>
          </a:p>
          <a:p>
            <a:r>
              <a:rPr lang="en-IN" sz="1700" dirty="0">
                <a:latin typeface="Times New Roman" pitchFamily="18" charset="0"/>
                <a:cs typeface="Times New Roman" pitchFamily="18" charset="0"/>
              </a:rPr>
              <a:t>• Convolution Layer</a:t>
            </a:r>
            <a:br>
              <a:rPr lang="en-IN" sz="1700" dirty="0">
                <a:latin typeface="Times New Roman" pitchFamily="18" charset="0"/>
                <a:cs typeface="Times New Roman" pitchFamily="18" charset="0"/>
              </a:rPr>
            </a:br>
            <a:r>
              <a:rPr lang="en-IN" sz="1700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IN" sz="1700" dirty="0" err="1">
                <a:latin typeface="Times New Roman" pitchFamily="18" charset="0"/>
                <a:cs typeface="Times New Roman" pitchFamily="18" charset="0"/>
              </a:rPr>
              <a:t>ReLU</a:t>
            </a:r>
            <a:r>
              <a:rPr lang="en-IN" sz="1700" dirty="0">
                <a:latin typeface="Times New Roman" pitchFamily="18" charset="0"/>
                <a:cs typeface="Times New Roman" pitchFamily="18" charset="0"/>
              </a:rPr>
              <a:t> Activation</a:t>
            </a:r>
            <a:br>
              <a:rPr lang="en-IN" sz="1700" dirty="0">
                <a:latin typeface="Times New Roman" pitchFamily="18" charset="0"/>
                <a:cs typeface="Times New Roman" pitchFamily="18" charset="0"/>
              </a:rPr>
            </a:br>
            <a:r>
              <a:rPr lang="en-IN" sz="1700" dirty="0">
                <a:latin typeface="Times New Roman" pitchFamily="18" charset="0"/>
                <a:cs typeface="Times New Roman" pitchFamily="18" charset="0"/>
              </a:rPr>
              <a:t>• Pooling Layer</a:t>
            </a:r>
            <a:br>
              <a:rPr lang="en-IN" sz="1700" dirty="0">
                <a:latin typeface="Times New Roman" pitchFamily="18" charset="0"/>
                <a:cs typeface="Times New Roman" pitchFamily="18" charset="0"/>
              </a:rPr>
            </a:br>
            <a:r>
              <a:rPr lang="en-IN" sz="1700" dirty="0">
                <a:latin typeface="Times New Roman" pitchFamily="18" charset="0"/>
                <a:cs typeface="Times New Roman" pitchFamily="18" charset="0"/>
              </a:rPr>
              <a:t>• Fully Connected Layer</a:t>
            </a:r>
          </a:p>
          <a:p>
            <a:endParaRPr lang="en-IN" sz="17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700" b="1" dirty="0">
                <a:latin typeface="Times New Roman" pitchFamily="18" charset="0"/>
                <a:cs typeface="Times New Roman" pitchFamily="18" charset="0"/>
              </a:rPr>
              <a:t>Natural Language Processing (NLP)</a:t>
            </a:r>
          </a:p>
          <a:p>
            <a:r>
              <a:rPr lang="en-IN" sz="1700" dirty="0">
                <a:latin typeface="Times New Roman" pitchFamily="18" charset="0"/>
                <a:cs typeface="Times New Roman" pitchFamily="18" charset="0"/>
              </a:rPr>
              <a:t>• Text Cleaning</a:t>
            </a:r>
            <a:br>
              <a:rPr lang="en-IN" sz="1700" dirty="0">
                <a:latin typeface="Times New Roman" pitchFamily="18" charset="0"/>
                <a:cs typeface="Times New Roman" pitchFamily="18" charset="0"/>
              </a:rPr>
            </a:br>
            <a:r>
              <a:rPr lang="en-IN" sz="1700" dirty="0">
                <a:latin typeface="Times New Roman" pitchFamily="18" charset="0"/>
                <a:cs typeface="Times New Roman" pitchFamily="18" charset="0"/>
              </a:rPr>
              <a:t>• Tokenization</a:t>
            </a:r>
            <a:br>
              <a:rPr lang="en-IN" sz="1700" dirty="0">
                <a:latin typeface="Times New Roman" pitchFamily="18" charset="0"/>
                <a:cs typeface="Times New Roman" pitchFamily="18" charset="0"/>
              </a:rPr>
            </a:br>
            <a:r>
              <a:rPr lang="en-IN" sz="1700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IN" sz="1700" dirty="0" err="1">
                <a:latin typeface="Times New Roman" pitchFamily="18" charset="0"/>
                <a:cs typeface="Times New Roman" pitchFamily="18" charset="0"/>
              </a:rPr>
              <a:t>Stopword</a:t>
            </a:r>
            <a:r>
              <a:rPr lang="en-IN" sz="1700" dirty="0">
                <a:latin typeface="Times New Roman" pitchFamily="18" charset="0"/>
                <a:cs typeface="Times New Roman" pitchFamily="18" charset="0"/>
              </a:rPr>
              <a:t> Removal</a:t>
            </a:r>
            <a:br>
              <a:rPr lang="en-IN" sz="1700" dirty="0">
                <a:latin typeface="Times New Roman" pitchFamily="18" charset="0"/>
                <a:cs typeface="Times New Roman" pitchFamily="18" charset="0"/>
              </a:rPr>
            </a:br>
            <a:r>
              <a:rPr lang="en-IN" sz="1700" dirty="0">
                <a:latin typeface="Times New Roman" pitchFamily="18" charset="0"/>
                <a:cs typeface="Times New Roman" pitchFamily="18" charset="0"/>
              </a:rPr>
              <a:t>• Lemmatization</a:t>
            </a:r>
            <a:br>
              <a:rPr lang="en-IN" sz="1700" dirty="0">
                <a:latin typeface="Times New Roman" pitchFamily="18" charset="0"/>
                <a:cs typeface="Times New Roman" pitchFamily="18" charset="0"/>
              </a:rPr>
            </a:br>
            <a:r>
              <a:rPr lang="en-IN" sz="1700" dirty="0">
                <a:latin typeface="Times New Roman" pitchFamily="18" charset="0"/>
                <a:cs typeface="Times New Roman" pitchFamily="18" charset="0"/>
              </a:rPr>
              <a:t>• TF-IDF Vectorization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5000" y="859237"/>
            <a:ext cx="497076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700" b="1" dirty="0">
                <a:latin typeface="Times New Roman" pitchFamily="18" charset="0"/>
                <a:cs typeface="Times New Roman" pitchFamily="18" charset="0"/>
              </a:rPr>
              <a:t>Sentiment Analysis</a:t>
            </a:r>
          </a:p>
          <a:p>
            <a:r>
              <a:rPr lang="en-IN" sz="1700" dirty="0">
                <a:latin typeface="Times New Roman" pitchFamily="18" charset="0"/>
                <a:cs typeface="Times New Roman" pitchFamily="18" charset="0"/>
              </a:rPr>
              <a:t>• Text Classification</a:t>
            </a:r>
            <a:br>
              <a:rPr lang="en-IN" sz="1700" dirty="0">
                <a:latin typeface="Times New Roman" pitchFamily="18" charset="0"/>
                <a:cs typeface="Times New Roman" pitchFamily="18" charset="0"/>
              </a:rPr>
            </a:br>
            <a:r>
              <a:rPr lang="en-IN" sz="1700" dirty="0">
                <a:latin typeface="Times New Roman" pitchFamily="18" charset="0"/>
                <a:cs typeface="Times New Roman" pitchFamily="18" charset="0"/>
              </a:rPr>
              <a:t>• Logistic Regression</a:t>
            </a:r>
            <a:br>
              <a:rPr lang="en-IN" sz="1700" dirty="0">
                <a:latin typeface="Times New Roman" pitchFamily="18" charset="0"/>
                <a:cs typeface="Times New Roman" pitchFamily="18" charset="0"/>
              </a:rPr>
            </a:br>
            <a:r>
              <a:rPr lang="en-IN" sz="1700" dirty="0">
                <a:latin typeface="Times New Roman" pitchFamily="18" charset="0"/>
                <a:cs typeface="Times New Roman" pitchFamily="18" charset="0"/>
              </a:rPr>
              <a:t>• Naive Bayes</a:t>
            </a:r>
          </a:p>
          <a:p>
            <a:endParaRPr lang="en-IN" sz="17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700" b="1" dirty="0">
                <a:latin typeface="Times New Roman" pitchFamily="18" charset="0"/>
                <a:cs typeface="Times New Roman" pitchFamily="18" charset="0"/>
              </a:rPr>
              <a:t>Practical Work</a:t>
            </a:r>
          </a:p>
          <a:p>
            <a:r>
              <a:rPr lang="en-IN" sz="1700" dirty="0">
                <a:latin typeface="Times New Roman" pitchFamily="18" charset="0"/>
                <a:cs typeface="Times New Roman" pitchFamily="18" charset="0"/>
              </a:rPr>
              <a:t>• Implemented basic CNN model for image classification</a:t>
            </a:r>
            <a:br>
              <a:rPr lang="en-IN" sz="1700" dirty="0">
                <a:latin typeface="Times New Roman" pitchFamily="18" charset="0"/>
                <a:cs typeface="Times New Roman" pitchFamily="18" charset="0"/>
              </a:rPr>
            </a:br>
            <a:r>
              <a:rPr lang="en-IN" sz="1700" dirty="0">
                <a:latin typeface="Times New Roman" pitchFamily="18" charset="0"/>
                <a:cs typeface="Times New Roman" pitchFamily="18" charset="0"/>
              </a:rPr>
              <a:t>• Performed image preprocessing (resizing, normalization)</a:t>
            </a:r>
            <a:br>
              <a:rPr lang="en-IN" sz="1700" dirty="0">
                <a:latin typeface="Times New Roman" pitchFamily="18" charset="0"/>
                <a:cs typeface="Times New Roman" pitchFamily="18" charset="0"/>
              </a:rPr>
            </a:br>
            <a:r>
              <a:rPr lang="en-IN" sz="1700" dirty="0">
                <a:latin typeface="Times New Roman" pitchFamily="18" charset="0"/>
                <a:cs typeface="Times New Roman" pitchFamily="18" charset="0"/>
              </a:rPr>
              <a:t>• Cleaned textual dataset</a:t>
            </a:r>
            <a:br>
              <a:rPr lang="en-IN" sz="1700" dirty="0">
                <a:latin typeface="Times New Roman" pitchFamily="18" charset="0"/>
                <a:cs typeface="Times New Roman" pitchFamily="18" charset="0"/>
              </a:rPr>
            </a:br>
            <a:r>
              <a:rPr lang="en-IN" sz="1700" dirty="0">
                <a:latin typeface="Times New Roman" pitchFamily="18" charset="0"/>
                <a:cs typeface="Times New Roman" pitchFamily="18" charset="0"/>
              </a:rPr>
              <a:t>• Converted text into numerical format using TF-IDF</a:t>
            </a:r>
            <a:br>
              <a:rPr lang="en-IN" sz="1700" dirty="0">
                <a:latin typeface="Times New Roman" pitchFamily="18" charset="0"/>
                <a:cs typeface="Times New Roman" pitchFamily="18" charset="0"/>
              </a:rPr>
            </a:br>
            <a:r>
              <a:rPr lang="en-IN" sz="1700" dirty="0">
                <a:latin typeface="Times New Roman" pitchFamily="18" charset="0"/>
                <a:cs typeface="Times New Roman" pitchFamily="18" charset="0"/>
              </a:rPr>
              <a:t>• Trained classification model for sentiment prediction</a:t>
            </a:r>
            <a:br>
              <a:rPr lang="en-IN" sz="1700" dirty="0">
                <a:latin typeface="Times New Roman" pitchFamily="18" charset="0"/>
                <a:cs typeface="Times New Roman" pitchFamily="18" charset="0"/>
              </a:rPr>
            </a:br>
            <a:r>
              <a:rPr lang="en-IN" sz="1700" dirty="0">
                <a:latin typeface="Times New Roman" pitchFamily="18" charset="0"/>
                <a:cs typeface="Times New Roman" pitchFamily="18" charset="0"/>
              </a:rPr>
              <a:t>• Evaluated model using confusion matrix</a:t>
            </a:r>
          </a:p>
        </p:txBody>
      </p:sp>
    </p:spTree>
    <p:extLst>
      <p:ext uri="{BB962C8B-B14F-4D97-AF65-F5344CB8AC3E}">
        <p14:creationId xmlns:p14="http://schemas.microsoft.com/office/powerpoint/2010/main" val="691060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Shape 89">
          <a:extLst>
            <a:ext uri="{FF2B5EF4-FFF2-40B4-BE49-F238E27FC236}">
              <a16:creationId xmlns:a16="http://schemas.microsoft.com/office/drawing/2014/main" id="{BEDEE719-96CA-ED76-A23A-FF21EAE00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>
            <a:extLst>
              <a:ext uri="{FF2B5EF4-FFF2-40B4-BE49-F238E27FC236}">
                <a16:creationId xmlns:a16="http://schemas.microsoft.com/office/drawing/2014/main" id="{F28333D5-3CFD-5C2F-2F04-9E7113F3F2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" y="0"/>
            <a:ext cx="9562214" cy="120700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WEEK 6 – Project: Project Finalization &amp; Optimization</a:t>
            </a:r>
            <a:endParaRPr lang="en-GB" sz="2400" b="1" dirty="0">
              <a:solidFill>
                <a:schemeClr val="bg2">
                  <a:lumMod val="50000"/>
                </a:schemeClr>
              </a:solidFill>
              <a:latin typeface="Times New Roman" pitchFamily="18" charset="0"/>
              <a:ea typeface="Playfair Display SemiBold"/>
              <a:cs typeface="Times New Roman" pitchFamily="18" charset="0"/>
              <a:sym typeface="Playfair Display SemiBold"/>
            </a:endParaRPr>
          </a:p>
        </p:txBody>
      </p:sp>
      <p:sp>
        <p:nvSpPr>
          <p:cNvPr id="93" name="Google Shape;93;p15">
            <a:extLst>
              <a:ext uri="{FF2B5EF4-FFF2-40B4-BE49-F238E27FC236}">
                <a16:creationId xmlns:a16="http://schemas.microsoft.com/office/drawing/2014/main" id="{A47C43E3-4D94-0CC1-2760-E19B124CB9CC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8373343" y="4704588"/>
            <a:ext cx="480060" cy="2738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2" name="Google Shape;126;p19">
            <a:extLst>
              <a:ext uri="{FF2B5EF4-FFF2-40B4-BE49-F238E27FC236}">
                <a16:creationId xmlns:a16="http://schemas.microsoft.com/office/drawing/2014/main" id="{6A112922-138B-2551-49ED-C9050F37136D}"/>
              </a:ext>
            </a:extLst>
          </p:cNvPr>
          <p:cNvSpPr txBox="1"/>
          <p:nvPr/>
        </p:nvSpPr>
        <p:spPr>
          <a:xfrm>
            <a:off x="0" y="4892423"/>
            <a:ext cx="3575700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GB" sz="1050" dirty="0"/>
              <a:t>AI/ML &amp; Data Science Project – Internship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0664" y="914400"/>
            <a:ext cx="2637260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Topics Covered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• Model Optimization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Image Enhancement Techniques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Performance Testing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Output Analysis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Error Handling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Final System Integration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0664" y="2938012"/>
            <a:ext cx="44342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Practical Work Performed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• Fine-tuned DNN colorization model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Improved image contrast and brightness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Reduced noise in output images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Compared original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colorized outputs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Tested system on multiple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grayscale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images</a:t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• Optimized processing time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0E2F6B-11C0-40EB-A18D-9F0848CA9F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289100" y="1134554"/>
            <a:ext cx="2866357" cy="3470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512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Shape 89">
          <a:extLst>
            <a:ext uri="{FF2B5EF4-FFF2-40B4-BE49-F238E27FC236}">
              <a16:creationId xmlns:a16="http://schemas.microsoft.com/office/drawing/2014/main" id="{BEDEE719-96CA-ED76-A23A-FF21EAE00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>
            <a:extLst>
              <a:ext uri="{FF2B5EF4-FFF2-40B4-BE49-F238E27FC236}">
                <a16:creationId xmlns:a16="http://schemas.microsoft.com/office/drawing/2014/main" id="{F28333D5-3CFD-5C2F-2F04-9E7113F3F2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0100" y="-42304"/>
            <a:ext cx="7543800" cy="120700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2800" b="1" dirty="0">
                <a:solidFill>
                  <a:schemeClr val="bg2">
                    <a:lumMod val="50000"/>
                  </a:schemeClr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Content</a:t>
            </a:r>
          </a:p>
        </p:txBody>
      </p:sp>
      <p:sp>
        <p:nvSpPr>
          <p:cNvPr id="93" name="Google Shape;93;p15">
            <a:extLst>
              <a:ext uri="{FF2B5EF4-FFF2-40B4-BE49-F238E27FC236}">
                <a16:creationId xmlns:a16="http://schemas.microsoft.com/office/drawing/2014/main" id="{A47C43E3-4D94-0CC1-2760-E19B124CB9CC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8343900" y="4692321"/>
            <a:ext cx="480060" cy="2738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 dirty="0"/>
          </a:p>
        </p:txBody>
      </p:sp>
      <p:sp>
        <p:nvSpPr>
          <p:cNvPr id="6" name="Google Shape;82;p14">
            <a:extLst>
              <a:ext uri="{FF2B5EF4-FFF2-40B4-BE49-F238E27FC236}">
                <a16:creationId xmlns:a16="http://schemas.microsoft.com/office/drawing/2014/main" id="{4FCB1E2D-E3C9-8ECC-7E64-BF3E2E55E153}"/>
              </a:ext>
            </a:extLst>
          </p:cNvPr>
          <p:cNvSpPr/>
          <p:nvPr/>
        </p:nvSpPr>
        <p:spPr>
          <a:xfrm>
            <a:off x="561948" y="777443"/>
            <a:ext cx="3064800" cy="40518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3;p14">
            <a:extLst>
              <a:ext uri="{FF2B5EF4-FFF2-40B4-BE49-F238E27FC236}">
                <a16:creationId xmlns:a16="http://schemas.microsoft.com/office/drawing/2014/main" id="{FD09F4E0-D8C3-38A2-07E7-8CDCA496F1B3}"/>
              </a:ext>
            </a:extLst>
          </p:cNvPr>
          <p:cNvSpPr txBox="1"/>
          <p:nvPr/>
        </p:nvSpPr>
        <p:spPr>
          <a:xfrm>
            <a:off x="664500" y="478152"/>
            <a:ext cx="3200400" cy="4591227"/>
          </a:xfrm>
          <a:prstGeom prst="rect">
            <a:avLst/>
          </a:prstGeom>
          <a:noFill/>
          <a:ln>
            <a:noFill/>
          </a:ln>
          <a:effectLst>
            <a:outerShdw blurRad="57150" dist="76200" dir="11040000" algn="bl" rotWithShape="0">
              <a:srgbClr val="000000">
                <a:alpha val="54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 dirty="0"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Georgia"/>
              <a:buChar char="★"/>
            </a:pPr>
            <a:r>
              <a:rPr lang="en" sz="2300" dirty="0">
                <a:latin typeface="Georgia"/>
                <a:ea typeface="Georgia"/>
                <a:cs typeface="Georgia"/>
                <a:sym typeface="Georgia"/>
              </a:rPr>
              <a:t>Introduction</a:t>
            </a:r>
          </a:p>
          <a:p>
            <a:pPr marL="457200" indent="-374650">
              <a:lnSpc>
                <a:spcPct val="115000"/>
              </a:lnSpc>
              <a:buClr>
                <a:srgbClr val="FFFFFF"/>
              </a:buClr>
              <a:buSzPts val="2300"/>
              <a:buFont typeface="Georgia"/>
              <a:buChar char="★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Georgia"/>
              <a:buChar char="★"/>
            </a:pPr>
            <a:r>
              <a:rPr lang="en" sz="2300" dirty="0">
                <a:latin typeface="Georgia"/>
                <a:ea typeface="Georgia"/>
                <a:cs typeface="Georgia"/>
                <a:sym typeface="Georgia"/>
              </a:rPr>
              <a:t>Features</a:t>
            </a:r>
            <a:endParaRPr sz="2300" dirty="0"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Georgia"/>
              <a:buChar char="★"/>
            </a:pPr>
            <a:r>
              <a:rPr lang="en" sz="2300" dirty="0">
                <a:latin typeface="Georgia"/>
                <a:ea typeface="Georgia"/>
                <a:cs typeface="Georgia"/>
                <a:sym typeface="Georgia"/>
              </a:rPr>
              <a:t>Software</a:t>
            </a:r>
            <a:endParaRPr sz="2300" dirty="0"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Georgia"/>
              <a:buChar char="★"/>
            </a:pPr>
            <a:r>
              <a:rPr lang="en" sz="2300" dirty="0">
                <a:latin typeface="Georgia"/>
                <a:ea typeface="Georgia"/>
                <a:cs typeface="Georgia"/>
                <a:sym typeface="Georgia"/>
              </a:rPr>
              <a:t>Architecture</a:t>
            </a:r>
            <a:endParaRPr sz="2300" dirty="0"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Georgia"/>
              <a:buChar char="★"/>
            </a:pPr>
            <a:r>
              <a:rPr lang="en" sz="2300" dirty="0">
                <a:latin typeface="Georgia"/>
                <a:ea typeface="Georgia"/>
                <a:cs typeface="Georgia"/>
                <a:sym typeface="Georgia"/>
              </a:rPr>
              <a:t>Component</a:t>
            </a:r>
            <a:endParaRPr sz="2300" dirty="0"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Georgia"/>
              <a:buChar char="★"/>
            </a:pPr>
            <a:r>
              <a:rPr lang="en" sz="2300" dirty="0">
                <a:latin typeface="Georgia"/>
                <a:ea typeface="Georgia"/>
                <a:cs typeface="Georgia"/>
                <a:sym typeface="Georgia"/>
              </a:rPr>
              <a:t>Project Module</a:t>
            </a:r>
            <a:endParaRPr sz="2300" dirty="0"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Georgia"/>
              <a:buChar char="★"/>
            </a:pPr>
            <a:r>
              <a:rPr lang="en" sz="2300" dirty="0">
                <a:latin typeface="Georgia"/>
                <a:ea typeface="Georgia"/>
                <a:cs typeface="Georgia"/>
                <a:sym typeface="Georgia"/>
              </a:rPr>
              <a:t>Applications</a:t>
            </a:r>
            <a:endParaRPr sz="2300" dirty="0"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Georgia"/>
              <a:buChar char="★"/>
            </a:pPr>
            <a:r>
              <a:rPr lang="en" sz="2300" dirty="0">
                <a:latin typeface="Georgia"/>
                <a:ea typeface="Georgia"/>
                <a:cs typeface="Georgia"/>
                <a:sym typeface="Georgia"/>
              </a:rPr>
              <a:t>Projects</a:t>
            </a:r>
            <a:endParaRPr sz="2300" dirty="0"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" name="Google Shape;79;p14">
            <a:extLst>
              <a:ext uri="{FF2B5EF4-FFF2-40B4-BE49-F238E27FC236}">
                <a16:creationId xmlns:a16="http://schemas.microsoft.com/office/drawing/2014/main" id="{51FC07C1-F3E4-ED4E-9279-32795ACEA9B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0831" y="922598"/>
            <a:ext cx="3469476" cy="346947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26;p19">
            <a:extLst>
              <a:ext uri="{FF2B5EF4-FFF2-40B4-BE49-F238E27FC236}">
                <a16:creationId xmlns:a16="http://schemas.microsoft.com/office/drawing/2014/main" id="{6A112922-138B-2551-49ED-C9050F37136D}"/>
              </a:ext>
            </a:extLst>
          </p:cNvPr>
          <p:cNvSpPr txBox="1"/>
          <p:nvPr/>
        </p:nvSpPr>
        <p:spPr>
          <a:xfrm>
            <a:off x="0" y="4892423"/>
            <a:ext cx="3575700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GB" sz="1050" dirty="0"/>
              <a:t>AI/ML &amp; Data Science Project – Internship 2026</a:t>
            </a:r>
          </a:p>
        </p:txBody>
      </p:sp>
    </p:spTree>
    <p:extLst>
      <p:ext uri="{BB962C8B-B14F-4D97-AF65-F5344CB8AC3E}">
        <p14:creationId xmlns:p14="http://schemas.microsoft.com/office/powerpoint/2010/main" val="3410347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>
            <a:spLocks noGrp="1"/>
          </p:cNvSpPr>
          <p:nvPr>
            <p:ph type="title"/>
          </p:nvPr>
        </p:nvSpPr>
        <p:spPr>
          <a:xfrm>
            <a:off x="83381" y="54277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rgbClr val="0C0C0C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  Introduction</a:t>
            </a:r>
            <a:endParaRPr sz="2800" b="1" dirty="0">
              <a:solidFill>
                <a:srgbClr val="0C0C0C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93" name="Google Shape;93;p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29A4419-75CF-3C43-92A9-3123BAA8C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019" y="934661"/>
            <a:ext cx="3341681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sz="1600" b="1" dirty="0">
                <a:latin typeface="Times New Roman" pitchFamily="18" charset="0"/>
                <a:cs typeface="Times New Roman" pitchFamily="18" charset="0"/>
                <a:sym typeface="Wingdings"/>
              </a:rPr>
              <a:t></a:t>
            </a:r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Real-World Context: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Many old photographs and </a:t>
            </a:r>
            <a:r>
              <a:rPr lang="en-IN" sz="1600" dirty="0" err="1">
                <a:latin typeface="Times New Roman" pitchFamily="18" charset="0"/>
                <a:cs typeface="Times New Roman" pitchFamily="18" charset="0"/>
              </a:rPr>
              <a:t>grayscale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 images lose visual clarity over time. Manually restoring or colorizing images requires professional editing skills and is time-consuming.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IN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Google Shape;126;p19">
            <a:extLst>
              <a:ext uri="{FF2B5EF4-FFF2-40B4-BE49-F238E27FC236}">
                <a16:creationId xmlns:a16="http://schemas.microsoft.com/office/drawing/2014/main" id="{13EBED52-E7D0-C9A5-B460-623426771AEA}"/>
              </a:ext>
            </a:extLst>
          </p:cNvPr>
          <p:cNvSpPr txBox="1"/>
          <p:nvPr/>
        </p:nvSpPr>
        <p:spPr>
          <a:xfrm>
            <a:off x="0" y="4892423"/>
            <a:ext cx="3575700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GB" sz="1050" dirty="0"/>
              <a:t>AI/ML &amp; Data Science Project – Internship 2026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3319" y="661445"/>
            <a:ext cx="5690681" cy="4482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/>
          <p:nvPr/>
        </p:nvSpPr>
        <p:spPr>
          <a:xfrm>
            <a:off x="302577" y="0"/>
            <a:ext cx="81615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101" name="Google Shape;101;p16"/>
          <p:cNvSpPr txBox="1">
            <a:spLocks noGrp="1"/>
          </p:cNvSpPr>
          <p:nvPr>
            <p:ph type="sldNum" sz="quarter" idx="12"/>
          </p:nvPr>
        </p:nvSpPr>
        <p:spPr>
          <a:xfrm>
            <a:off x="8387093" y="4697713"/>
            <a:ext cx="480060" cy="2738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42FCF4-3B43-28B6-312B-08D894B54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577" y="1625003"/>
            <a:ext cx="547875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Old images remain black &amp; white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Low-quality images reduce visual appeal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Manual editing requires expertise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No structured feedback system for AI improvement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No privacy-focused restoration platform</a:t>
            </a:r>
            <a:endParaRPr lang="en-US" altLang="en-US" sz="16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5" name="Picture 3" descr="5 Problem Statement Examples &amp; How to Write it. | PM Study Circle">
            <a:extLst>
              <a:ext uri="{FF2B5EF4-FFF2-40B4-BE49-F238E27FC236}">
                <a16:creationId xmlns:a16="http://schemas.microsoft.com/office/drawing/2014/main" id="{35300A0B-57D6-F809-4A98-86B433AE37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1884" y="1810265"/>
            <a:ext cx="3595471" cy="20224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126;p19">
            <a:extLst>
              <a:ext uri="{FF2B5EF4-FFF2-40B4-BE49-F238E27FC236}">
                <a16:creationId xmlns:a16="http://schemas.microsoft.com/office/drawing/2014/main" id="{79B52BDB-46BD-3AF2-4AA9-C82589FB1B19}"/>
              </a:ext>
            </a:extLst>
          </p:cNvPr>
          <p:cNvSpPr txBox="1"/>
          <p:nvPr/>
        </p:nvSpPr>
        <p:spPr>
          <a:xfrm>
            <a:off x="0" y="4899857"/>
            <a:ext cx="3575700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GB" sz="1050" dirty="0"/>
              <a:t>AI/ML &amp; Data Science Project – Internship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/>
        </p:nvSpPr>
        <p:spPr>
          <a:xfrm>
            <a:off x="262890" y="0"/>
            <a:ext cx="8441938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Objectives</a:t>
            </a:r>
          </a:p>
        </p:txBody>
      </p:sp>
      <p:sp>
        <p:nvSpPr>
          <p:cNvPr id="109" name="Google Shape;109;p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AA392C-824C-E25F-E0DF-F908237C4CD8}"/>
              </a:ext>
            </a:extLst>
          </p:cNvPr>
          <p:cNvSpPr txBox="1"/>
          <p:nvPr/>
        </p:nvSpPr>
        <p:spPr>
          <a:xfrm>
            <a:off x="106508" y="1598341"/>
            <a:ext cx="497130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An AI-based system that:</a:t>
            </a:r>
          </a:p>
          <a:p>
            <a:br>
              <a:rPr lang="en-IN" sz="1600" b="1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Enhances image quality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Colorizes </a:t>
            </a:r>
            <a:r>
              <a:rPr lang="en-IN" sz="1600" dirty="0" err="1">
                <a:latin typeface="Times New Roman" pitchFamily="18" charset="0"/>
                <a:cs typeface="Times New Roman" pitchFamily="18" charset="0"/>
              </a:rPr>
              <a:t>grayscale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 images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Provides multiple output variants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Collects user feedback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Generates analytics for improvement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126;p19">
            <a:extLst>
              <a:ext uri="{FF2B5EF4-FFF2-40B4-BE49-F238E27FC236}">
                <a16:creationId xmlns:a16="http://schemas.microsoft.com/office/drawing/2014/main" id="{DE9D0263-E076-65B5-AF85-A702A68EF975}"/>
              </a:ext>
            </a:extLst>
          </p:cNvPr>
          <p:cNvSpPr txBox="1"/>
          <p:nvPr/>
        </p:nvSpPr>
        <p:spPr>
          <a:xfrm>
            <a:off x="0" y="4892423"/>
            <a:ext cx="3575700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GB" sz="1050" dirty="0"/>
              <a:t>AI/ML &amp; Data Science Project – Internship 2026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5097" y="680930"/>
            <a:ext cx="5015216" cy="44625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326850" y="16350"/>
            <a:ext cx="8527218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dirty="0">
                <a:solidFill>
                  <a:srgbClr val="0C0C0C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 </a:t>
            </a:r>
            <a:r>
              <a:rPr lang="en" sz="3100" b="1" dirty="0">
                <a:solidFill>
                  <a:srgbClr val="0C0C0C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Features</a:t>
            </a:r>
            <a:endParaRPr b="1" dirty="0">
              <a:solidFill>
                <a:srgbClr val="0C0C0C"/>
              </a:solidFill>
            </a:endParaRPr>
          </a:p>
        </p:txBody>
      </p:sp>
      <p:sp>
        <p:nvSpPr>
          <p:cNvPr id="117" name="Google Shape;117;p18"/>
          <p:cNvSpPr txBox="1">
            <a:spLocks noGrp="1"/>
          </p:cNvSpPr>
          <p:nvPr>
            <p:ph type="sldNum" sz="quarter" idx="12"/>
          </p:nvPr>
        </p:nvSpPr>
        <p:spPr>
          <a:xfrm>
            <a:off x="8374008" y="4694392"/>
            <a:ext cx="480060" cy="2738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BF9669-451A-A83B-9F91-F5A66B597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902" y="1639481"/>
            <a:ext cx="964208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AI-Based Image Enhancement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IN" sz="1600" dirty="0" err="1">
                <a:latin typeface="Times New Roman" pitchFamily="18" charset="0"/>
                <a:cs typeface="Times New Roman" pitchFamily="18" charset="0"/>
              </a:rPr>
              <a:t>Grayscale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en-IN" sz="1600" dirty="0" err="1">
                <a:latin typeface="Times New Roman" pitchFamily="18" charset="0"/>
                <a:cs typeface="Times New Roman" pitchFamily="18" charset="0"/>
              </a:rPr>
              <a:t>Color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 Conversion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Multiple Image Variants Generation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Real-Time Preview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Download as ZIP or Individual Files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Privacy-First (One-click delete)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Feedback Rating System (0–100 slider)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Sentiment Analysis on Reviews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Developer Analytics Dashboard</a:t>
            </a:r>
          </a:p>
        </p:txBody>
      </p:sp>
      <p:pic>
        <p:nvPicPr>
          <p:cNvPr id="1030" name="Picture 6" descr="Round Features Stock Illustrations – 154,130 Round Features Stock  Illustrations, Vectors &amp; Clipart - Dreamstime">
            <a:extLst>
              <a:ext uri="{FF2B5EF4-FFF2-40B4-BE49-F238E27FC236}">
                <a16:creationId xmlns:a16="http://schemas.microsoft.com/office/drawing/2014/main" id="{8626E0B7-E833-AA0A-52A6-CD1E688E5B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2282" y="1679815"/>
            <a:ext cx="2126730" cy="1791629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126;p19">
            <a:extLst>
              <a:ext uri="{FF2B5EF4-FFF2-40B4-BE49-F238E27FC236}">
                <a16:creationId xmlns:a16="http://schemas.microsoft.com/office/drawing/2014/main" id="{CF64DA05-0DA7-0B98-EE84-E0843A917A53}"/>
              </a:ext>
            </a:extLst>
          </p:cNvPr>
          <p:cNvSpPr txBox="1"/>
          <p:nvPr/>
        </p:nvSpPr>
        <p:spPr>
          <a:xfrm>
            <a:off x="0" y="4899857"/>
            <a:ext cx="3575700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GB" sz="1050" dirty="0"/>
              <a:t>AI/ML &amp; Data Science Project – Internship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5AA057A2-20DB-64D8-C5F2-03612AA36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6572" y="783772"/>
            <a:ext cx="5423762" cy="4462564"/>
          </a:xfrm>
          <a:prstGeom prst="rect">
            <a:avLst/>
          </a:prstGeom>
        </p:spPr>
      </p:pic>
      <p:sp>
        <p:nvSpPr>
          <p:cNvPr id="135" name="Google Shape;135;p20">
            <a:extLst>
              <a:ext uri="{FF2B5EF4-FFF2-40B4-BE49-F238E27FC236}">
                <a16:creationId xmlns:a16="http://schemas.microsoft.com/office/drawing/2014/main" id="{03FE5FE0-998C-E89E-7FB6-C0DB994032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673800"/>
          </a:xfrm>
          <a:prstGeom prst="rect">
            <a:avLst/>
          </a:prstGeom>
          <a:solidFill>
            <a:srgbClr val="FFF2CC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GB" sz="2400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 </a:t>
            </a:r>
            <a:endParaRPr sz="2400" b="1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ea typeface="Nunito"/>
              <a:cs typeface="Times New Roman" panose="02020603050405020304" pitchFamily="18" charset="0"/>
              <a:sym typeface="Nunito"/>
            </a:endParaRPr>
          </a:p>
        </p:txBody>
      </p:sp>
      <p:sp>
        <p:nvSpPr>
          <p:cNvPr id="136" name="Google Shape;136;p20">
            <a:extLst>
              <a:ext uri="{FF2B5EF4-FFF2-40B4-BE49-F238E27FC236}">
                <a16:creationId xmlns:a16="http://schemas.microsoft.com/office/drawing/2014/main" id="{B31C1299-180C-48F0-0844-AE4FEE39B82A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3" name="Google Shape;126;p19">
            <a:extLst>
              <a:ext uri="{FF2B5EF4-FFF2-40B4-BE49-F238E27FC236}">
                <a16:creationId xmlns:a16="http://schemas.microsoft.com/office/drawing/2014/main" id="{D2BC8785-3245-370E-5486-5343AB471609}"/>
              </a:ext>
            </a:extLst>
          </p:cNvPr>
          <p:cNvSpPr txBox="1"/>
          <p:nvPr/>
        </p:nvSpPr>
        <p:spPr>
          <a:xfrm>
            <a:off x="0" y="4892423"/>
            <a:ext cx="3575700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GB" sz="1050" dirty="0"/>
              <a:t>AI/ML &amp; Data Science Project – Internship 2026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8486" y="1332689"/>
            <a:ext cx="611839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600" b="1" dirty="0">
                <a:latin typeface="Times New Roman" pitchFamily="18" charset="0"/>
                <a:cs typeface="Times New Roman" pitchFamily="18" charset="0"/>
                <a:sym typeface="Wingdings"/>
              </a:rPr>
              <a:t></a:t>
            </a:r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Programming Language:</a:t>
            </a:r>
          </a:p>
          <a:p>
            <a:pPr lvl="0"/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Python</a:t>
            </a:r>
          </a:p>
          <a:p>
            <a:pPr lvl="0"/>
            <a:r>
              <a:rPr lang="en-IN" sz="1600" b="1" dirty="0">
                <a:latin typeface="Times New Roman" pitchFamily="18" charset="0"/>
                <a:cs typeface="Times New Roman" pitchFamily="18" charset="0"/>
                <a:sym typeface="Wingdings"/>
              </a:rPr>
              <a:t></a:t>
            </a:r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Backend Framework:</a:t>
            </a:r>
          </a:p>
          <a:p>
            <a:pPr lvl="0"/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IN" sz="1600" dirty="0" err="1">
                <a:latin typeface="Times New Roman" pitchFamily="18" charset="0"/>
                <a:cs typeface="Times New Roman" pitchFamily="18" charset="0"/>
              </a:rPr>
              <a:t>FastAPI</a:t>
            </a:r>
            <a:endParaRPr lang="en-IN" sz="16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IN" sz="1600" b="1" dirty="0">
                <a:latin typeface="Times New Roman" pitchFamily="18" charset="0"/>
                <a:cs typeface="Times New Roman" pitchFamily="18" charset="0"/>
                <a:sym typeface="Wingdings"/>
              </a:rPr>
              <a:t></a:t>
            </a:r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Frontend Framework:</a:t>
            </a:r>
          </a:p>
          <a:p>
            <a:pPr lvl="0"/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React-Vite</a:t>
            </a:r>
          </a:p>
          <a:p>
            <a:pPr lvl="0"/>
            <a:r>
              <a:rPr lang="en-IN" sz="1600" b="1" dirty="0">
                <a:latin typeface="Times New Roman" pitchFamily="18" charset="0"/>
                <a:cs typeface="Times New Roman" pitchFamily="18" charset="0"/>
                <a:sym typeface="Wingdings"/>
              </a:rPr>
              <a:t></a:t>
            </a:r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Libraries Used:</a:t>
            </a:r>
          </a:p>
          <a:p>
            <a:pPr lvl="0"/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OpenCV, NumPy, and AI-based colorization models</a:t>
            </a:r>
          </a:p>
          <a:p>
            <a:pPr lvl="0"/>
            <a:r>
              <a:rPr lang="en-IN" sz="1600" b="1" dirty="0">
                <a:latin typeface="Times New Roman" pitchFamily="18" charset="0"/>
                <a:cs typeface="Times New Roman" pitchFamily="18" charset="0"/>
                <a:sym typeface="Wingdings"/>
              </a:rPr>
              <a:t></a:t>
            </a:r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Development Tools:</a:t>
            </a:r>
          </a:p>
          <a:p>
            <a:pPr lvl="0"/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Visual Studio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8A6C56-4F01-B64A-1353-DBEAF01CE6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490974" y="2571750"/>
            <a:ext cx="1984743" cy="127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921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5AA057A2-20DB-64D8-C5F2-03612AA36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>
            <a:extLst>
              <a:ext uri="{FF2B5EF4-FFF2-40B4-BE49-F238E27FC236}">
                <a16:creationId xmlns:a16="http://schemas.microsoft.com/office/drawing/2014/main" id="{03FE5FE0-998C-E89E-7FB6-C0DB994032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673800"/>
          </a:xfrm>
          <a:prstGeom prst="rect">
            <a:avLst/>
          </a:prstGeom>
          <a:solidFill>
            <a:srgbClr val="FFF2CC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GB" sz="2400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 </a:t>
            </a:r>
            <a:endParaRPr sz="2400" b="1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ea typeface="Nunito"/>
              <a:cs typeface="Times New Roman" panose="02020603050405020304" pitchFamily="18" charset="0"/>
              <a:sym typeface="Nunito"/>
            </a:endParaRPr>
          </a:p>
        </p:txBody>
      </p:sp>
      <p:sp>
        <p:nvSpPr>
          <p:cNvPr id="136" name="Google Shape;136;p20">
            <a:extLst>
              <a:ext uri="{FF2B5EF4-FFF2-40B4-BE49-F238E27FC236}">
                <a16:creationId xmlns:a16="http://schemas.microsoft.com/office/drawing/2014/main" id="{B31C1299-180C-48F0-0844-AE4FEE39B82A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8396976" y="4704588"/>
            <a:ext cx="480060" cy="2738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3" name="Google Shape;126;p19">
            <a:extLst>
              <a:ext uri="{FF2B5EF4-FFF2-40B4-BE49-F238E27FC236}">
                <a16:creationId xmlns:a16="http://schemas.microsoft.com/office/drawing/2014/main" id="{D2BC8785-3245-370E-5486-5343AB471609}"/>
              </a:ext>
            </a:extLst>
          </p:cNvPr>
          <p:cNvSpPr txBox="1"/>
          <p:nvPr/>
        </p:nvSpPr>
        <p:spPr>
          <a:xfrm>
            <a:off x="0" y="4892423"/>
            <a:ext cx="3575700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GB" sz="1050" dirty="0"/>
              <a:t>AI/ML &amp; Data Science Project – Internship 2026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21635" y="946559"/>
            <a:ext cx="329783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🔹 </a:t>
            </a:r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Image Enhancement</a:t>
            </a:r>
            <a:endParaRPr lang="en-IN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dirty="0" err="1">
                <a:latin typeface="Times New Roman" pitchFamily="18" charset="0"/>
                <a:cs typeface="Times New Roman" pitchFamily="18" charset="0"/>
              </a:rPr>
              <a:t>Denoising</a:t>
            </a:r>
            <a:endParaRPr lang="en-IN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Contrast correction (CLAHE)</a:t>
            </a:r>
          </a:p>
          <a:p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Sharpening</a:t>
            </a:r>
          </a:p>
          <a:p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Multiple output variants</a:t>
            </a:r>
          </a:p>
          <a:p>
            <a:endParaRPr lang="en-IN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🔹 </a:t>
            </a:r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Image Colorization</a:t>
            </a:r>
            <a:endParaRPr lang="en-IN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dirty="0" err="1">
                <a:latin typeface="Times New Roman" pitchFamily="18" charset="0"/>
                <a:cs typeface="Times New Roman" pitchFamily="18" charset="0"/>
              </a:rPr>
              <a:t>Pretrained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600" dirty="0" err="1">
                <a:latin typeface="Times New Roman" pitchFamily="18" charset="0"/>
                <a:cs typeface="Times New Roman" pitchFamily="18" charset="0"/>
              </a:rPr>
              <a:t>OpenCV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 DNN Model</a:t>
            </a:r>
          </a:p>
          <a:p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Deep learning-based </a:t>
            </a:r>
            <a:r>
              <a:rPr lang="en-IN" sz="1600" dirty="0" err="1">
                <a:latin typeface="Times New Roman" pitchFamily="18" charset="0"/>
                <a:cs typeface="Times New Roman" pitchFamily="18" charset="0"/>
              </a:rPr>
              <a:t>color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 prediction</a:t>
            </a:r>
          </a:p>
          <a:p>
            <a:r>
              <a:rPr lang="en-IN" sz="1600" dirty="0" err="1">
                <a:latin typeface="Times New Roman" pitchFamily="18" charset="0"/>
                <a:cs typeface="Times New Roman" pitchFamily="18" charset="0"/>
              </a:rPr>
              <a:t>Grayscale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 → LAB → </a:t>
            </a:r>
            <a:r>
              <a:rPr lang="en-IN" sz="1600" dirty="0" err="1">
                <a:latin typeface="Times New Roman" pitchFamily="18" charset="0"/>
                <a:cs typeface="Times New Roman" pitchFamily="18" charset="0"/>
              </a:rPr>
              <a:t>Colored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 image</a:t>
            </a:r>
          </a:p>
          <a:p>
            <a:endParaRPr lang="en-IN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🔹 </a:t>
            </a:r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Processing Pipeline</a:t>
            </a:r>
            <a:endParaRPr lang="en-IN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Mode selection (Enhance / Colorize / Both)</a:t>
            </a:r>
          </a:p>
          <a:p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Modular architecture</a:t>
            </a:r>
          </a:p>
          <a:p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API-based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62272" y="856025"/>
            <a:ext cx="3834704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🔹 </a:t>
            </a:r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Feedback &amp; NLP</a:t>
            </a:r>
            <a:endParaRPr lang="en-IN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Slider rating (0–100)</a:t>
            </a:r>
          </a:p>
          <a:p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Sentiment analysis (Polarity &amp; Subjectivity)</a:t>
            </a:r>
          </a:p>
          <a:p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Keyword extraction</a:t>
            </a:r>
          </a:p>
          <a:p>
            <a:endParaRPr lang="en-IN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🔹 </a:t>
            </a:r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Analytics</a:t>
            </a:r>
            <a:endParaRPr lang="en-IN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Average score calculation</a:t>
            </a:r>
          </a:p>
          <a:p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Variance analysis</a:t>
            </a:r>
          </a:p>
          <a:p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Chart generation</a:t>
            </a:r>
          </a:p>
          <a:p>
            <a:endParaRPr lang="en-IN" sz="1600" dirty="0">
              <a:latin typeface="Times New Roman" pitchFamily="18" charset="0"/>
              <a:cs typeface="Times New Roman" pitchFamily="18" charset="0"/>
            </a:endParaRPr>
          </a:p>
          <a:p>
            <a:endParaRPr lang="en-IN" sz="1600" dirty="0">
              <a:latin typeface="Times New Roman" pitchFamily="18" charset="0"/>
              <a:cs typeface="Times New Roman" pitchFamily="18" charset="0"/>
            </a:endParaRPr>
          </a:p>
          <a:p>
            <a:endParaRPr lang="en-IN" sz="1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50440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FBEB7F2C-2952-1A07-5165-D41B740AC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>
            <a:extLst>
              <a:ext uri="{FF2B5EF4-FFF2-40B4-BE49-F238E27FC236}">
                <a16:creationId xmlns:a16="http://schemas.microsoft.com/office/drawing/2014/main" id="{5EFDF9E5-4254-2FC7-E73D-70E85C428A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673800"/>
          </a:xfrm>
          <a:prstGeom prst="rect">
            <a:avLst/>
          </a:prstGeom>
          <a:solidFill>
            <a:srgbClr val="FFF2CC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IN" sz="24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Architecture</a:t>
            </a:r>
            <a:endParaRPr sz="2400" b="1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ea typeface="Nunito"/>
              <a:cs typeface="Times New Roman" panose="02020603050405020304" pitchFamily="18" charset="0"/>
              <a:sym typeface="Nunito"/>
            </a:endParaRPr>
          </a:p>
        </p:txBody>
      </p:sp>
      <p:sp>
        <p:nvSpPr>
          <p:cNvPr id="136" name="Google Shape;136;p20">
            <a:extLst>
              <a:ext uri="{FF2B5EF4-FFF2-40B4-BE49-F238E27FC236}">
                <a16:creationId xmlns:a16="http://schemas.microsoft.com/office/drawing/2014/main" id="{94845935-003C-59DF-A0F4-3C53DAB49905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8380218" y="4697713"/>
            <a:ext cx="480060" cy="2738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3" name="Google Shape;126;p19">
            <a:extLst>
              <a:ext uri="{FF2B5EF4-FFF2-40B4-BE49-F238E27FC236}">
                <a16:creationId xmlns:a16="http://schemas.microsoft.com/office/drawing/2014/main" id="{22ACBFB1-1BF7-C23D-E47E-A723066A60AF}"/>
              </a:ext>
            </a:extLst>
          </p:cNvPr>
          <p:cNvSpPr txBox="1"/>
          <p:nvPr/>
        </p:nvSpPr>
        <p:spPr>
          <a:xfrm>
            <a:off x="0" y="4892423"/>
            <a:ext cx="3575700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GB" sz="1050" dirty="0"/>
              <a:t>AI/ML &amp; Data Science Project – Internship 2026</a:t>
            </a:r>
          </a:p>
        </p:txBody>
      </p:sp>
      <p:sp>
        <p:nvSpPr>
          <p:cNvPr id="7" name="AutoShape 2" descr="blob:https://web.whatsapp.com/a7be7ad0-3ebf-4467-ae2f-bd8cda73a1b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0492" y="787940"/>
            <a:ext cx="3429000" cy="4104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1151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FBEB7F2C-2952-1A07-5165-D41B740AC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>
            <a:extLst>
              <a:ext uri="{FF2B5EF4-FFF2-40B4-BE49-F238E27FC236}">
                <a16:creationId xmlns:a16="http://schemas.microsoft.com/office/drawing/2014/main" id="{5EFDF9E5-4254-2FC7-E73D-70E85C428A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673800"/>
          </a:xfrm>
          <a:prstGeom prst="rect">
            <a:avLst/>
          </a:prstGeom>
          <a:solidFill>
            <a:srgbClr val="FFF2CC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Input and Output Results</a:t>
            </a:r>
            <a:br>
              <a:rPr lang="en-IN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endParaRPr sz="2400" b="1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ea typeface="Nunito"/>
              <a:cs typeface="Times New Roman" panose="02020603050405020304" pitchFamily="18" charset="0"/>
              <a:sym typeface="Nunito"/>
            </a:endParaRPr>
          </a:p>
        </p:txBody>
      </p:sp>
      <p:sp>
        <p:nvSpPr>
          <p:cNvPr id="136" name="Google Shape;136;p20">
            <a:extLst>
              <a:ext uri="{FF2B5EF4-FFF2-40B4-BE49-F238E27FC236}">
                <a16:creationId xmlns:a16="http://schemas.microsoft.com/office/drawing/2014/main" id="{94845935-003C-59DF-A0F4-3C53DAB49905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8407719" y="4697713"/>
            <a:ext cx="480060" cy="2738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3" name="Google Shape;126;p19">
            <a:extLst>
              <a:ext uri="{FF2B5EF4-FFF2-40B4-BE49-F238E27FC236}">
                <a16:creationId xmlns:a16="http://schemas.microsoft.com/office/drawing/2014/main" id="{22ACBFB1-1BF7-C23D-E47E-A723066A60AF}"/>
              </a:ext>
            </a:extLst>
          </p:cNvPr>
          <p:cNvSpPr txBox="1"/>
          <p:nvPr/>
        </p:nvSpPr>
        <p:spPr>
          <a:xfrm>
            <a:off x="0" y="4892423"/>
            <a:ext cx="3575700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GB" sz="1050" dirty="0"/>
              <a:t>AI/ML &amp; Data Science Project – Internship 2026</a:t>
            </a:r>
          </a:p>
        </p:txBody>
      </p:sp>
      <p:sp>
        <p:nvSpPr>
          <p:cNvPr id="7" name="AutoShape 2" descr="blob:https://web.whatsapp.com/a7be7ad0-3ebf-4467-ae2f-bd8cda73a1b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155575" y="444117"/>
            <a:ext cx="290977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 </a:t>
            </a:r>
            <a:endParaRPr lang="en-IN" dirty="0"/>
          </a:p>
          <a:p>
            <a:r>
              <a:rPr lang="en-US" b="1" dirty="0"/>
              <a:t>Figure 1: Image Upload Process</a:t>
            </a:r>
            <a:endParaRPr lang="en-IN" dirty="0"/>
          </a:p>
          <a:p>
            <a:endParaRPr lang="en-IN" dirty="0"/>
          </a:p>
        </p:txBody>
      </p:sp>
      <p:pic>
        <p:nvPicPr>
          <p:cNvPr id="9" name="Picture 8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802" y="1182781"/>
            <a:ext cx="6462395" cy="370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2039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FBEB7F2C-2952-1A07-5165-D41B740AC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>
            <a:extLst>
              <a:ext uri="{FF2B5EF4-FFF2-40B4-BE49-F238E27FC236}">
                <a16:creationId xmlns:a16="http://schemas.microsoft.com/office/drawing/2014/main" id="{5EFDF9E5-4254-2FC7-E73D-70E85C428A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673800"/>
          </a:xfrm>
          <a:prstGeom prst="rect">
            <a:avLst/>
          </a:prstGeom>
          <a:solidFill>
            <a:srgbClr val="FFF2CC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Input and Output Results</a:t>
            </a:r>
            <a:br>
              <a:rPr lang="en-IN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endParaRPr sz="2400" b="1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ea typeface="Nunito"/>
              <a:cs typeface="Times New Roman" panose="02020603050405020304" pitchFamily="18" charset="0"/>
              <a:sym typeface="Nunito"/>
            </a:endParaRPr>
          </a:p>
        </p:txBody>
      </p:sp>
      <p:sp>
        <p:nvSpPr>
          <p:cNvPr id="136" name="Google Shape;136;p20">
            <a:extLst>
              <a:ext uri="{FF2B5EF4-FFF2-40B4-BE49-F238E27FC236}">
                <a16:creationId xmlns:a16="http://schemas.microsoft.com/office/drawing/2014/main" id="{94845935-003C-59DF-A0F4-3C53DAB49905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8387096" y="4711463"/>
            <a:ext cx="480060" cy="2738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3" name="Google Shape;126;p19">
            <a:extLst>
              <a:ext uri="{FF2B5EF4-FFF2-40B4-BE49-F238E27FC236}">
                <a16:creationId xmlns:a16="http://schemas.microsoft.com/office/drawing/2014/main" id="{22ACBFB1-1BF7-C23D-E47E-A723066A60AF}"/>
              </a:ext>
            </a:extLst>
          </p:cNvPr>
          <p:cNvSpPr txBox="1"/>
          <p:nvPr/>
        </p:nvSpPr>
        <p:spPr>
          <a:xfrm>
            <a:off x="0" y="4892423"/>
            <a:ext cx="3575700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GB" sz="1050" dirty="0"/>
              <a:t>AI/ML &amp; Data Science Project – Internship 2026</a:t>
            </a:r>
          </a:p>
        </p:txBody>
      </p:sp>
      <p:sp>
        <p:nvSpPr>
          <p:cNvPr id="7" name="AutoShape 2" descr="blob:https://web.whatsapp.com/a7be7ad0-3ebf-4467-ae2f-bd8cda73a1b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155575" y="737808"/>
            <a:ext cx="5497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Figure 2: Processing Mode Selection</a:t>
            </a:r>
            <a:endParaRPr lang="en-IN" dirty="0"/>
          </a:p>
        </p:txBody>
      </p:sp>
      <p:pic>
        <p:nvPicPr>
          <p:cNvPr id="8" name="Picture 7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167" y="1171148"/>
            <a:ext cx="6463665" cy="3668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455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FBEB7F2C-2952-1A07-5165-D41B740AC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>
            <a:extLst>
              <a:ext uri="{FF2B5EF4-FFF2-40B4-BE49-F238E27FC236}">
                <a16:creationId xmlns:a16="http://schemas.microsoft.com/office/drawing/2014/main" id="{5EFDF9E5-4254-2FC7-E73D-70E85C428A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673800"/>
          </a:xfrm>
          <a:prstGeom prst="rect">
            <a:avLst/>
          </a:prstGeom>
          <a:solidFill>
            <a:srgbClr val="FFF2CC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Input and Output Results</a:t>
            </a:r>
            <a:br>
              <a:rPr lang="en-IN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endParaRPr sz="2400" b="1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ea typeface="Nunito"/>
              <a:cs typeface="Times New Roman" panose="02020603050405020304" pitchFamily="18" charset="0"/>
              <a:sym typeface="Nunito"/>
            </a:endParaRPr>
          </a:p>
        </p:txBody>
      </p:sp>
      <p:sp>
        <p:nvSpPr>
          <p:cNvPr id="136" name="Google Shape;136;p20">
            <a:extLst>
              <a:ext uri="{FF2B5EF4-FFF2-40B4-BE49-F238E27FC236}">
                <a16:creationId xmlns:a16="http://schemas.microsoft.com/office/drawing/2014/main" id="{94845935-003C-59DF-A0F4-3C53DAB49905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8387096" y="4711463"/>
            <a:ext cx="480060" cy="2738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3" name="Google Shape;126;p19">
            <a:extLst>
              <a:ext uri="{FF2B5EF4-FFF2-40B4-BE49-F238E27FC236}">
                <a16:creationId xmlns:a16="http://schemas.microsoft.com/office/drawing/2014/main" id="{22ACBFB1-1BF7-C23D-E47E-A723066A60AF}"/>
              </a:ext>
            </a:extLst>
          </p:cNvPr>
          <p:cNvSpPr txBox="1"/>
          <p:nvPr/>
        </p:nvSpPr>
        <p:spPr>
          <a:xfrm>
            <a:off x="0" y="4892423"/>
            <a:ext cx="3575700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GB" sz="1050" dirty="0"/>
              <a:t>AI/ML &amp; Data Science Project – Internship 2026</a:t>
            </a:r>
          </a:p>
        </p:txBody>
      </p:sp>
      <p:sp>
        <p:nvSpPr>
          <p:cNvPr id="7" name="AutoShape 2" descr="blob:https://web.whatsapp.com/a7be7ad0-3ebf-4467-ae2f-bd8cda73a1b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155575" y="718092"/>
            <a:ext cx="4878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Figure 3: Image Processing Execution</a:t>
            </a:r>
            <a:endParaRPr lang="en-IN" dirty="0"/>
          </a:p>
        </p:txBody>
      </p:sp>
      <p:pic>
        <p:nvPicPr>
          <p:cNvPr id="9" name="Picture 8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167" y="1131715"/>
            <a:ext cx="6463665" cy="3760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6468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FBEB7F2C-2952-1A07-5165-D41B740AC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>
            <a:extLst>
              <a:ext uri="{FF2B5EF4-FFF2-40B4-BE49-F238E27FC236}">
                <a16:creationId xmlns:a16="http://schemas.microsoft.com/office/drawing/2014/main" id="{5EFDF9E5-4254-2FC7-E73D-70E85C428A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673800"/>
          </a:xfrm>
          <a:prstGeom prst="rect">
            <a:avLst/>
          </a:prstGeom>
          <a:solidFill>
            <a:srgbClr val="FFF2CC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Input and Output Results</a:t>
            </a:r>
            <a:br>
              <a:rPr lang="en-IN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endParaRPr sz="2400" b="1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ea typeface="Nunito"/>
              <a:cs typeface="Times New Roman" panose="02020603050405020304" pitchFamily="18" charset="0"/>
              <a:sym typeface="Nunito"/>
            </a:endParaRPr>
          </a:p>
        </p:txBody>
      </p:sp>
      <p:sp>
        <p:nvSpPr>
          <p:cNvPr id="136" name="Google Shape;136;p20">
            <a:extLst>
              <a:ext uri="{FF2B5EF4-FFF2-40B4-BE49-F238E27FC236}">
                <a16:creationId xmlns:a16="http://schemas.microsoft.com/office/drawing/2014/main" id="{94845935-003C-59DF-A0F4-3C53DAB49905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8393971" y="4711463"/>
            <a:ext cx="480060" cy="2738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sp>
        <p:nvSpPr>
          <p:cNvPr id="3" name="Google Shape;126;p19">
            <a:extLst>
              <a:ext uri="{FF2B5EF4-FFF2-40B4-BE49-F238E27FC236}">
                <a16:creationId xmlns:a16="http://schemas.microsoft.com/office/drawing/2014/main" id="{22ACBFB1-1BF7-C23D-E47E-A723066A60AF}"/>
              </a:ext>
            </a:extLst>
          </p:cNvPr>
          <p:cNvSpPr txBox="1"/>
          <p:nvPr/>
        </p:nvSpPr>
        <p:spPr>
          <a:xfrm>
            <a:off x="0" y="4892423"/>
            <a:ext cx="3575700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GB" sz="1050" dirty="0"/>
              <a:t>AI/ML &amp; Data Science Project – Internship 2026</a:t>
            </a:r>
          </a:p>
        </p:txBody>
      </p:sp>
      <p:sp>
        <p:nvSpPr>
          <p:cNvPr id="7" name="AutoShape 2" descr="blob:https://web.whatsapp.com/a7be7ad0-3ebf-4467-ae2f-bd8cda73a1b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98937" y="673800"/>
            <a:ext cx="7896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Figure 4: Image Enhancement and Colorization Result</a:t>
            </a:r>
            <a:endParaRPr lang="en-IN" dirty="0"/>
          </a:p>
        </p:txBody>
      </p:sp>
      <p:pic>
        <p:nvPicPr>
          <p:cNvPr id="8" name="Picture 7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167" y="1244756"/>
            <a:ext cx="6463665" cy="358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8907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FBEB7F2C-2952-1A07-5165-D41B740AC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>
            <a:extLst>
              <a:ext uri="{FF2B5EF4-FFF2-40B4-BE49-F238E27FC236}">
                <a16:creationId xmlns:a16="http://schemas.microsoft.com/office/drawing/2014/main" id="{5EFDF9E5-4254-2FC7-E73D-70E85C428A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673800"/>
          </a:xfrm>
          <a:prstGeom prst="rect">
            <a:avLst/>
          </a:prstGeom>
          <a:solidFill>
            <a:srgbClr val="FFF2CC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Input and Output Results</a:t>
            </a:r>
            <a:br>
              <a:rPr lang="en-IN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endParaRPr sz="2400" b="1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ea typeface="Nunito"/>
              <a:cs typeface="Times New Roman" panose="02020603050405020304" pitchFamily="18" charset="0"/>
              <a:sym typeface="Nunito"/>
            </a:endParaRPr>
          </a:p>
        </p:txBody>
      </p:sp>
      <p:sp>
        <p:nvSpPr>
          <p:cNvPr id="136" name="Google Shape;136;p20">
            <a:extLst>
              <a:ext uri="{FF2B5EF4-FFF2-40B4-BE49-F238E27FC236}">
                <a16:creationId xmlns:a16="http://schemas.microsoft.com/office/drawing/2014/main" id="{94845935-003C-59DF-A0F4-3C53DAB49905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8393971" y="4711463"/>
            <a:ext cx="480060" cy="2738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 dirty="0"/>
          </a:p>
        </p:txBody>
      </p:sp>
      <p:sp>
        <p:nvSpPr>
          <p:cNvPr id="3" name="Google Shape;126;p19">
            <a:extLst>
              <a:ext uri="{FF2B5EF4-FFF2-40B4-BE49-F238E27FC236}">
                <a16:creationId xmlns:a16="http://schemas.microsoft.com/office/drawing/2014/main" id="{22ACBFB1-1BF7-C23D-E47E-A723066A60AF}"/>
              </a:ext>
            </a:extLst>
          </p:cNvPr>
          <p:cNvSpPr txBox="1"/>
          <p:nvPr/>
        </p:nvSpPr>
        <p:spPr>
          <a:xfrm>
            <a:off x="0" y="4892423"/>
            <a:ext cx="3575700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GB" sz="1050" dirty="0"/>
              <a:t>AI/ML &amp; Data Science Project – Internship 2026</a:t>
            </a:r>
          </a:p>
        </p:txBody>
      </p:sp>
      <p:sp>
        <p:nvSpPr>
          <p:cNvPr id="7" name="AutoShape 2" descr="blob:https://web.whatsapp.com/a7be7ad0-3ebf-4467-ae2f-bd8cda73a1b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105812" y="696868"/>
            <a:ext cx="4951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Figure 5: User Preference Analysis</a:t>
            </a:r>
            <a:endParaRPr lang="en-IN" dirty="0"/>
          </a:p>
        </p:txBody>
      </p:sp>
      <p:pic>
        <p:nvPicPr>
          <p:cNvPr id="9" name="Picture 8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550" y="1100030"/>
            <a:ext cx="6438900" cy="3792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7556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9C1F41CC-679A-3776-CC0D-9EB3BBB33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>
            <a:extLst>
              <a:ext uri="{FF2B5EF4-FFF2-40B4-BE49-F238E27FC236}">
                <a16:creationId xmlns:a16="http://schemas.microsoft.com/office/drawing/2014/main" id="{89BE4E4A-8B69-C097-C8A5-BC5C9E286B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673800"/>
          </a:xfrm>
          <a:prstGeom prst="rect">
            <a:avLst/>
          </a:prstGeom>
          <a:solidFill>
            <a:srgbClr val="FFF2CC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IN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Components</a:t>
            </a:r>
            <a:endParaRPr sz="2400" b="1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ea typeface="Nunito"/>
              <a:cs typeface="Times New Roman" panose="02020603050405020304" pitchFamily="18" charset="0"/>
              <a:sym typeface="Nunito"/>
            </a:endParaRPr>
          </a:p>
        </p:txBody>
      </p:sp>
      <p:sp>
        <p:nvSpPr>
          <p:cNvPr id="136" name="Google Shape;136;p20">
            <a:extLst>
              <a:ext uri="{FF2B5EF4-FFF2-40B4-BE49-F238E27FC236}">
                <a16:creationId xmlns:a16="http://schemas.microsoft.com/office/drawing/2014/main" id="{75ABB8B8-F109-6C50-8240-E26CA3C430D2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8393971" y="4711463"/>
            <a:ext cx="480060" cy="2738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sp>
        <p:nvSpPr>
          <p:cNvPr id="3" name="Google Shape;126;p19">
            <a:extLst>
              <a:ext uri="{FF2B5EF4-FFF2-40B4-BE49-F238E27FC236}">
                <a16:creationId xmlns:a16="http://schemas.microsoft.com/office/drawing/2014/main" id="{38409459-F837-1CBD-FBC9-30F0C9621DF8}"/>
              </a:ext>
            </a:extLst>
          </p:cNvPr>
          <p:cNvSpPr txBox="1"/>
          <p:nvPr/>
        </p:nvSpPr>
        <p:spPr>
          <a:xfrm>
            <a:off x="0" y="4892423"/>
            <a:ext cx="3575700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GB" sz="1050" dirty="0"/>
              <a:t>AI/ML &amp; Data Science Project – Internship 2026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77047" y="992206"/>
            <a:ext cx="3223959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1.Data Upload Component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Accepts image files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Validates file type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Sends POST request to backend</a:t>
            </a:r>
          </a:p>
          <a:p>
            <a:endParaRPr lang="en-IN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2.Image Enhancement Component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IN" sz="1600" dirty="0" err="1">
                <a:latin typeface="Times New Roman" pitchFamily="18" charset="0"/>
                <a:cs typeface="Times New Roman" pitchFamily="18" charset="0"/>
              </a:rPr>
              <a:t>Denoising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Contrast correction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Sharpening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Generates enhanced variants</a:t>
            </a:r>
          </a:p>
          <a:p>
            <a:endParaRPr lang="en-IN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3.Image Colorization Component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Loads </a:t>
            </a:r>
            <a:r>
              <a:rPr lang="en-IN" sz="1600" dirty="0" err="1">
                <a:latin typeface="Times New Roman" pitchFamily="18" charset="0"/>
                <a:cs typeface="Times New Roman" pitchFamily="18" charset="0"/>
              </a:rPr>
              <a:t>OpenCV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 DNN Model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Converts </a:t>
            </a:r>
            <a:r>
              <a:rPr lang="en-IN" sz="1600" dirty="0" err="1">
                <a:latin typeface="Times New Roman" pitchFamily="18" charset="0"/>
                <a:cs typeface="Times New Roman" pitchFamily="18" charset="0"/>
              </a:rPr>
              <a:t>grayscale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en-IN" sz="1600" dirty="0" err="1">
                <a:latin typeface="Times New Roman" pitchFamily="18" charset="0"/>
                <a:cs typeface="Times New Roman" pitchFamily="18" charset="0"/>
              </a:rPr>
              <a:t>color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Generates realistic tones</a:t>
            </a:r>
          </a:p>
          <a:p>
            <a:endParaRPr lang="en-IN" sz="1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29457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E38CB98A-87E1-08F4-D875-EC7D89A28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>
            <a:extLst>
              <a:ext uri="{FF2B5EF4-FFF2-40B4-BE49-F238E27FC236}">
                <a16:creationId xmlns:a16="http://schemas.microsoft.com/office/drawing/2014/main" id="{2694BDF4-EB54-F89D-D099-B6A2A81894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673800"/>
          </a:xfrm>
          <a:prstGeom prst="rect">
            <a:avLst/>
          </a:prstGeom>
          <a:solidFill>
            <a:srgbClr val="FFF2CC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IN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Components</a:t>
            </a:r>
            <a:endParaRPr sz="2400" b="1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ea typeface="Nunito"/>
              <a:cs typeface="Times New Roman" panose="02020603050405020304" pitchFamily="18" charset="0"/>
              <a:sym typeface="Nunito"/>
            </a:endParaRPr>
          </a:p>
        </p:txBody>
      </p:sp>
      <p:sp>
        <p:nvSpPr>
          <p:cNvPr id="136" name="Google Shape;136;p20">
            <a:extLst>
              <a:ext uri="{FF2B5EF4-FFF2-40B4-BE49-F238E27FC236}">
                <a16:creationId xmlns:a16="http://schemas.microsoft.com/office/drawing/2014/main" id="{20A853CD-92DA-9BC4-F622-7D79376CDC54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8393971" y="4711463"/>
            <a:ext cx="480060" cy="2738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sp>
        <p:nvSpPr>
          <p:cNvPr id="3" name="Google Shape;126;p19">
            <a:extLst>
              <a:ext uri="{FF2B5EF4-FFF2-40B4-BE49-F238E27FC236}">
                <a16:creationId xmlns:a16="http://schemas.microsoft.com/office/drawing/2014/main" id="{E551B7E0-15C5-0EA3-BECB-2E71EFF438F4}"/>
              </a:ext>
            </a:extLst>
          </p:cNvPr>
          <p:cNvSpPr txBox="1"/>
          <p:nvPr/>
        </p:nvSpPr>
        <p:spPr>
          <a:xfrm>
            <a:off x="0" y="4892423"/>
            <a:ext cx="3575700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GB" sz="1050" dirty="0"/>
              <a:t>AI/ML &amp; Data Science Project – Internship 2026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9F7881-1260-C3B7-A89F-D51035398794}"/>
              </a:ext>
            </a:extLst>
          </p:cNvPr>
          <p:cNvSpPr txBox="1"/>
          <p:nvPr/>
        </p:nvSpPr>
        <p:spPr>
          <a:xfrm>
            <a:off x="351741" y="778318"/>
            <a:ext cx="3223959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1.Data Upload Component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Accepts image files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Validates file type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Sends POST request to backend</a:t>
            </a:r>
          </a:p>
          <a:p>
            <a:endParaRPr lang="en-IN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2.Image Enhancement Component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IN" sz="1600" dirty="0" err="1">
                <a:latin typeface="Times New Roman" pitchFamily="18" charset="0"/>
                <a:cs typeface="Times New Roman" pitchFamily="18" charset="0"/>
              </a:rPr>
              <a:t>Denoising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Contrast correction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Sharpening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Generates enhanced variants</a:t>
            </a:r>
          </a:p>
          <a:p>
            <a:endParaRPr lang="en-IN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3.Image Colorization Component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Loads </a:t>
            </a:r>
            <a:r>
              <a:rPr lang="en-IN" sz="1600" dirty="0" err="1">
                <a:latin typeface="Times New Roman" pitchFamily="18" charset="0"/>
                <a:cs typeface="Times New Roman" pitchFamily="18" charset="0"/>
              </a:rPr>
              <a:t>OpenCV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 DNN Model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Converts </a:t>
            </a:r>
            <a:r>
              <a:rPr lang="en-IN" sz="1600" dirty="0" err="1">
                <a:latin typeface="Times New Roman" pitchFamily="18" charset="0"/>
                <a:cs typeface="Times New Roman" pitchFamily="18" charset="0"/>
              </a:rPr>
              <a:t>grayscale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en-IN" sz="1600" dirty="0" err="1">
                <a:latin typeface="Times New Roman" pitchFamily="18" charset="0"/>
                <a:cs typeface="Times New Roman" pitchFamily="18" charset="0"/>
              </a:rPr>
              <a:t>color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Generates realistic tones</a:t>
            </a:r>
          </a:p>
          <a:p>
            <a:endParaRPr lang="en-IN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75701" y="787918"/>
            <a:ext cx="2880102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4.Feedback Collection Component</a:t>
            </a:r>
            <a:br>
              <a:rPr lang="en-IN" sz="1600" b="1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Slider rating (0–100)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Optional comment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Stores reviews locally</a:t>
            </a:r>
          </a:p>
          <a:p>
            <a:endParaRPr lang="en-IN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5.NLP Processing Component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Sentiment Polarity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Subjectivity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Keyword extraction</a:t>
            </a:r>
          </a:p>
          <a:p>
            <a:endParaRPr lang="en-IN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6. Analytics Component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Average rating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Variance calculation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Generates charts (PNG)</a:t>
            </a:r>
          </a:p>
          <a:p>
            <a:endParaRPr lang="en-IN" sz="1600" dirty="0">
              <a:latin typeface="Times New Roman" pitchFamily="18" charset="0"/>
              <a:cs typeface="Times New Roman" pitchFamily="18" charset="0"/>
            </a:endParaRPr>
          </a:p>
          <a:p>
            <a:endParaRPr lang="en-IN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55803" y="797953"/>
            <a:ext cx="224773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7.Developer Dashboard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Common complaints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Frequent keywords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• Token-protected access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5069676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414596" y="4697713"/>
            <a:ext cx="480060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23</a:t>
            </a:fld>
            <a:endParaRPr lang="e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AAD838E-78AF-B4B7-EB74-8512CBC37E62}"/>
              </a:ext>
            </a:extLst>
          </p:cNvPr>
          <p:cNvSpPr txBox="1">
            <a:spLocks/>
          </p:cNvSpPr>
          <p:nvPr/>
        </p:nvSpPr>
        <p:spPr>
          <a:xfrm>
            <a:off x="0" y="75909"/>
            <a:ext cx="8826600" cy="865991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40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Applications</a:t>
            </a:r>
            <a:endParaRPr lang="en-GB" sz="4000" b="1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67319" y="1079773"/>
            <a:ext cx="5795433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• Restoration of Old Family Photos</a:t>
            </a:r>
            <a:br>
              <a:rPr lang="en-IN" sz="2000" dirty="0">
                <a:latin typeface="Times New Roman" pitchFamily="18" charset="0"/>
                <a:cs typeface="Times New Roman" pitchFamily="18" charset="0"/>
              </a:rPr>
            </a:b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• Digital Archive Improvement</a:t>
            </a:r>
            <a:br>
              <a:rPr lang="en-IN" sz="2000" dirty="0">
                <a:latin typeface="Times New Roman" pitchFamily="18" charset="0"/>
                <a:cs typeface="Times New Roman" pitchFamily="18" charset="0"/>
              </a:rPr>
            </a:b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• Historical Image Enhancement</a:t>
            </a:r>
            <a:br>
              <a:rPr lang="en-IN" sz="2000" dirty="0">
                <a:latin typeface="Times New Roman" pitchFamily="18" charset="0"/>
                <a:cs typeface="Times New Roman" pitchFamily="18" charset="0"/>
              </a:rPr>
            </a:b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• Photography Enhancement</a:t>
            </a:r>
            <a:br>
              <a:rPr lang="en-IN" sz="2000" dirty="0">
                <a:latin typeface="Times New Roman" pitchFamily="18" charset="0"/>
                <a:cs typeface="Times New Roman" pitchFamily="18" charset="0"/>
              </a:rPr>
            </a:b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• Educational AI Demonstration Tool</a:t>
            </a:r>
            <a:br>
              <a:rPr lang="en-IN" sz="2000" dirty="0">
                <a:latin typeface="Times New Roman" pitchFamily="18" charset="0"/>
                <a:cs typeface="Times New Roman" pitchFamily="18" charset="0"/>
              </a:rPr>
            </a:b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• AI Research &amp; Feedback-Based Model Improvement</a:t>
            </a:r>
            <a:br>
              <a:rPr lang="en-IN" sz="2000" dirty="0">
                <a:latin typeface="Times New Roman" pitchFamily="18" charset="0"/>
                <a:cs typeface="Times New Roman" pitchFamily="18" charset="0"/>
              </a:rPr>
            </a:b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• Image Processing Learning Project</a:t>
            </a:r>
          </a:p>
        </p:txBody>
      </p:sp>
    </p:spTree>
    <p:extLst>
      <p:ext uri="{BB962C8B-B14F-4D97-AF65-F5344CB8AC3E}">
        <p14:creationId xmlns:p14="http://schemas.microsoft.com/office/powerpoint/2010/main" val="4735955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BDB8E-4340-9100-B621-2D9B4D448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230" y="5586"/>
            <a:ext cx="2400300" cy="1303020"/>
          </a:xfrm>
        </p:spPr>
        <p:txBody>
          <a:bodyPr/>
          <a:lstStyle/>
          <a:p>
            <a:r>
              <a:rPr lang="en-US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A7C4A-18E2-9ED2-2878-66C59BEDB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470" y="689229"/>
            <a:ext cx="5330952" cy="3765042"/>
          </a:xfrm>
        </p:spPr>
        <p:txBody>
          <a:bodyPr>
            <a:noAutofit/>
          </a:bodyPr>
          <a:lstStyle/>
          <a:p>
            <a:r>
              <a:rPr lang="en-US" sz="2800" dirty="0"/>
              <a:t>  Take replies/reviews from the users.</a:t>
            </a:r>
          </a:p>
          <a:p>
            <a:r>
              <a:rPr lang="en-US" sz="2800" dirty="0"/>
              <a:t>  Perform Sentiment analysis on the words and the number rating of each variant.</a:t>
            </a:r>
          </a:p>
          <a:p>
            <a:r>
              <a:rPr lang="en-US" sz="2800" dirty="0"/>
              <a:t>  Dynamically alter the ‘Image Processing Variables’ in accordance.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1F2107-E886-4ABB-267B-5DF2CE1CC44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/>
              <a:t>DYNAMIC IMPROVEMENT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_WAP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7B0A22-CED1-1485-B77C-CB7F73339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0843" y="4697714"/>
            <a:ext cx="480060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24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4339485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 txBox="1">
            <a:spLocks noGrp="1"/>
          </p:cNvSpPr>
          <p:nvPr>
            <p:ph type="sldNum" sz="quarter" idx="12"/>
          </p:nvPr>
        </p:nvSpPr>
        <p:spPr>
          <a:xfrm>
            <a:off x="8393971" y="4711463"/>
            <a:ext cx="480060" cy="2738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sp>
        <p:nvSpPr>
          <p:cNvPr id="244" name="Google Shape;244;p31"/>
          <p:cNvSpPr txBox="1"/>
          <p:nvPr/>
        </p:nvSpPr>
        <p:spPr>
          <a:xfrm>
            <a:off x="0" y="4783460"/>
            <a:ext cx="3947160" cy="36930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GB" sz="1200" dirty="0"/>
              <a:t>AI/ML &amp; Data Science Project – Internship 2026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F234375-60AC-112C-960C-3115DEE26967}"/>
                  </a:ext>
                </a:extLst>
              </p14:cNvPr>
              <p14:cNvContentPartPr/>
              <p14:nvPr/>
            </p14:nvContentPartPr>
            <p14:xfrm>
              <a:off x="3550740" y="2415600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F234375-60AC-112C-960C-3115DEE2696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44620" y="240948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95F85B6D-1846-9BCD-E47E-CCCC6BA19FD6}"/>
              </a:ext>
            </a:extLst>
          </p:cNvPr>
          <p:cNvSpPr txBox="1"/>
          <p:nvPr/>
        </p:nvSpPr>
        <p:spPr>
          <a:xfrm>
            <a:off x="5658280" y="4082832"/>
            <a:ext cx="47030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-By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Krishna Kiran Aher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24863" y="1478626"/>
            <a:ext cx="43588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Thank You..!!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2924</TotalTime>
  <Words>1465</Words>
  <Application>Microsoft Office PowerPoint</Application>
  <PresentationFormat>On-screen Show (16:9)</PresentationFormat>
  <Paragraphs>202</Paragraphs>
  <Slides>25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Times New Roman</vt:lpstr>
      <vt:lpstr>Rockwell</vt:lpstr>
      <vt:lpstr>Wingdings</vt:lpstr>
      <vt:lpstr>Playfair Display SemiBold</vt:lpstr>
      <vt:lpstr>Rockwell Condensed</vt:lpstr>
      <vt:lpstr>Roboto</vt:lpstr>
      <vt:lpstr>Georgia</vt:lpstr>
      <vt:lpstr>Arial</vt:lpstr>
      <vt:lpstr>Wood Type</vt:lpstr>
      <vt:lpstr>MATOSHRI COLLEGE OF ENGINEERING   Department Of Computer Engineering </vt:lpstr>
      <vt:lpstr>WEEK 1 – Python Programming Fundamentals</vt:lpstr>
      <vt:lpstr>WEEK 2 – Object Oriented Programming</vt:lpstr>
      <vt:lpstr>WEEK 3 – NumPy and Pandas</vt:lpstr>
      <vt:lpstr>WEEK 4 – Data Visualization and Regression</vt:lpstr>
      <vt:lpstr>WEEK 5 – CNN, NLP and Sentiment Analysis</vt:lpstr>
      <vt:lpstr>WEEK 6 – Project: Project Finalization &amp; Optimization</vt:lpstr>
      <vt:lpstr>Content</vt:lpstr>
      <vt:lpstr>  Introduction</vt:lpstr>
      <vt:lpstr>PowerPoint Presentation</vt:lpstr>
      <vt:lpstr>PowerPoint Presentation</vt:lpstr>
      <vt:lpstr> Features</vt:lpstr>
      <vt:lpstr>Technology Used </vt:lpstr>
      <vt:lpstr>Methodology Used </vt:lpstr>
      <vt:lpstr>Architecture</vt:lpstr>
      <vt:lpstr>  Input and Output Results </vt:lpstr>
      <vt:lpstr>  Input and Output Results </vt:lpstr>
      <vt:lpstr>  Input and Output Results </vt:lpstr>
      <vt:lpstr>  Input and Output Results </vt:lpstr>
      <vt:lpstr>  Input and Output Results </vt:lpstr>
      <vt:lpstr>Components</vt:lpstr>
      <vt:lpstr>Components</vt:lpstr>
      <vt:lpstr>PowerPoint Presentation</vt:lpstr>
      <vt:lpstr>Future Scope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SNJB’s Late Sau. Kantabai Bhavarlalji Jain COLLEGE OF ENGINEERING Accredited With A+ Grade By NAAC Department Of AI &amp; DS Engineering</dc:title>
  <dc:creator>Guide</dc:creator>
  <cp:lastModifiedBy>Krishna Aher</cp:lastModifiedBy>
  <cp:revision>58</cp:revision>
  <dcterms:modified xsi:type="dcterms:W3CDTF">2026-04-05T15:47:03Z</dcterms:modified>
</cp:coreProperties>
</file>